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ffaba29-f13e-242e-ace2-41b78e65f308}">
          <p14:sldIdLst>
            <p14:sldId id="256"/>
            <p14:sldId id="257"/>
          </p14:sldIdLst>
        </p14:section>
        <p14:section name="Build" id="{d8366eaa-1e82-8aa2-0f8b-602b743235fb}">
          <p14:sldIdLst>
            <p14:sldId id="258"/>
            <p14:sldId id="259"/>
            <p14:sldId id="260"/>
          </p14:sldIdLst>
        </p14:section>
        <p14:section name="Demo" id="{43c2eb7b-beb7-a26b-c124-d404d8a691b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Luca. This is my term break project: a booking website for a tennis club, built with Next.js and Supabase. I'll take about two minutes to explain how it works, then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shows every booking, every member and every court with its prices. I picked option B, the tennis club dataset, because I wanted to focus on building the app. The data is 120 bookings, 36 members and 15 courts.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normalised the original spreadsheet into three tables. A court can have many bookings, and a member can have many bookings. Non-members can also book, so the member id on a booking is allowed to be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project. For a URL like courts slash 3, useParams reads the id. useEffect runs when the page loads, and again if the id changes, and calls a function that asks Supabase for the court where court number equals that id. The result is stored with useState and rendered. Different URLs give different data. Bookings are fetched with the court and member joined in, in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decisions. First, I kept the hirer name on the booking, because the person on the booking can be different from the member who made it. Second, amount charged is stored on each booking as a historical record, so old bookings do not change if prices change. My challenge: the date import failed because Postgres wants year, month, day format. Writing the dates in that ISO format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Start on the home page, go to courts, open court 3, go to members, open M001, then try a court that does not exist to show it fails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21031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383280"/>
            <a:ext cx="4937760" cy="4572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2103120"/>
          </a:xfrm>
          <a:prstGeom prst="rect">
            <a:avLst/>
          </a:prstGeom>
          <a:noFill/>
          <a:ln/>
        </p:spPr>
        <p:txBody>
          <a:bodyPr wrap="square" lIns="0" tIns="0" rIns="0" bIns="0" rtlCol="0" anchor="b"/>
          <a:lstStyle/>
          <a:p>
            <a:pPr algn="l" indent="0" marL="0">
              <a:buNone/>
            </a:pPr>
            <a:r>
              <a:rPr lang="en-US" sz="3800" b="1" dirty="0">
                <a:solidFill>
                  <a:schemeClr val="bg1"/>
                </a:solidFill>
              </a:rPr>
              <a:t>KangaLife Tennis Court Booking System</a:t>
            </a:r>
            <a:endParaRPr lang="en-US" sz="3800" dirty="0"/>
          </a:p>
        </p:txBody>
      </p:sp>
      <p:sp>
        <p:nvSpPr>
          <p:cNvPr id="3" name="Text 0"/>
          <p:cNvSpPr/>
          <p:nvPr>
            <p:ph idx="101" type="body" hasCustomPrompt="1"/>
          </p:nvPr>
        </p:nvSpPr>
        <p:spPr>
          <a:xfrm>
            <a:off x="548640" y="3383280"/>
            <a:ext cx="4937760" cy="457200"/>
          </a:xfrm>
          <a:prstGeom prst="rect">
            <a:avLst/>
          </a:prstGeom>
          <a:noFill/>
          <a:ln/>
        </p:spPr>
        <p:txBody>
          <a:bodyPr wrap="square" lIns="0" tIns="0" rIns="0" bIns="0" rtlCol="0" anchor="t"/>
          <a:lstStyle/>
          <a:p>
            <a:pPr algn="l" indent="0" marL="0">
              <a:buNone/>
            </a:pPr>
            <a:r>
              <a:rPr lang="en-US" sz="1800" dirty="0">
                <a:solidFill>
                  <a:schemeClr val="accent1"/>
                </a:solidFill>
              </a:rPr>
              <a:t>Next.js and Supabase | Term Break Project</a:t>
            </a:r>
            <a:endParaRPr lang="en-US" sz="1800" dirty="0"/>
          </a:p>
        </p:txBody>
      </p:sp>
      <p:sp>
        <p:nvSpPr>
          <p:cNvPr id="4" name="Presenter"/>
          <p:cNvSpPr txBox="1"/>
          <p:nvPr/>
        </p:nvSpPr>
        <p:spPr>
          <a:xfrm>
            <a:off x="548640" y="4206240"/>
            <a:ext cx="4937760" cy="320040"/>
          </a:xfrm>
          <a:prstGeom prst="rect">
            <a:avLst/>
          </a:prstGeom>
          <a:noFill/>
          <a:ln/>
        </p:spPr>
        <p:txBody>
          <a:bodyPr wrap="square" lIns="0" tIns="0" rIns="0" bIns="0" rtlCol="0" anchor="ctr"/>
          <a:lstStyle/>
          <a:p>
            <a:pPr indent="0" marL="0">
              <a:buNone/>
            </a:pPr>
            <a:r>
              <a:rPr lang="en-US" sz="1400" dirty="0">
                <a:solidFill>
                  <a:schemeClr val="accent4"/>
                </a:solidFill>
              </a:rPr>
              <a:t>Luca | Web Development, Kangan Institute</a:t>
            </a:r>
            <a:endParaRPr lang="en-US" sz="1400" dirty="0"/>
          </a:p>
        </p:txBody>
      </p:sp>
      <p:sp>
        <p:nvSpPr>
          <p:cNvPr id="5" name="Court outline"/>
          <p:cNvSpPr/>
          <p:nvPr/>
        </p:nvSpPr>
        <p:spPr>
          <a:xfrm>
            <a:off x="5943600" y="822960"/>
            <a:ext cx="2743200" cy="3566160"/>
          </a:xfrm>
          <a:prstGeom prst="rect">
            <a:avLst/>
          </a:prstGeom>
          <a:ln w="25400">
            <a:solidFill>
              <a:schemeClr val="accent3"/>
            </a:solidFill>
            <a:prstDash val="solid"/>
          </a:ln>
        </p:spPr>
      </p:sp>
      <p:sp>
        <p:nvSpPr>
          <p:cNvPr id="6" name="Court singles lines"/>
          <p:cNvSpPr/>
          <p:nvPr/>
        </p:nvSpPr>
        <p:spPr>
          <a:xfrm>
            <a:off x="6309360" y="822960"/>
            <a:ext cx="2011680" cy="3566160"/>
          </a:xfrm>
          <a:prstGeom prst="rect">
            <a:avLst/>
          </a:prstGeom>
          <a:ln w="25400">
            <a:solidFill>
              <a:schemeClr val="accent3"/>
            </a:solidFill>
            <a:prstDash val="solid"/>
          </a:ln>
        </p:spPr>
      </p:sp>
      <p:sp>
        <p:nvSpPr>
          <p:cNvPr id="7" name="Service line top"/>
          <p:cNvSpPr/>
          <p:nvPr/>
        </p:nvSpPr>
        <p:spPr>
          <a:xfrm>
            <a:off x="6309360" y="1737360"/>
            <a:ext cx="2011680" cy="0"/>
          </a:xfrm>
          <a:prstGeom prst="line">
            <a:avLst/>
          </a:prstGeom>
          <a:noFill/>
          <a:ln w="25400">
            <a:solidFill>
              <a:schemeClr val="accent3"/>
            </a:solidFill>
            <a:prstDash val="solid"/>
          </a:ln>
        </p:spPr>
      </p:sp>
      <p:sp>
        <p:nvSpPr>
          <p:cNvPr id="8" name="Service line bottom"/>
          <p:cNvSpPr/>
          <p:nvPr/>
        </p:nvSpPr>
        <p:spPr>
          <a:xfrm>
            <a:off x="6309360" y="3474720"/>
            <a:ext cx="2011680" cy="0"/>
          </a:xfrm>
          <a:prstGeom prst="line">
            <a:avLst/>
          </a:prstGeom>
          <a:noFill/>
          <a:ln w="25400">
            <a:solidFill>
              <a:schemeClr val="accent3"/>
            </a:solidFill>
            <a:prstDash val="solid"/>
          </a:ln>
        </p:spPr>
      </p:sp>
      <p:sp>
        <p:nvSpPr>
          <p:cNvPr id="9" name="Centre service line"/>
          <p:cNvSpPr/>
          <p:nvPr/>
        </p:nvSpPr>
        <p:spPr>
          <a:xfrm>
            <a:off x="7315200" y="1737360"/>
            <a:ext cx="0" cy="1737360"/>
          </a:xfrm>
          <a:prstGeom prst="line">
            <a:avLst/>
          </a:prstGeom>
          <a:noFill/>
          <a:ln w="25400">
            <a:solidFill>
              <a:schemeClr val="accent3"/>
            </a:solidFill>
            <a:prstDash val="solid"/>
          </a:ln>
        </p:spPr>
      </p:sp>
      <p:sp>
        <p:nvSpPr>
          <p:cNvPr id="10" name="Net"/>
          <p:cNvSpPr/>
          <p:nvPr/>
        </p:nvSpPr>
        <p:spPr>
          <a:xfrm>
            <a:off x="5760720" y="2606040"/>
            <a:ext cx="3108960" cy="0"/>
          </a:xfrm>
          <a:prstGeom prst="line">
            <a:avLst/>
          </a:prstGeom>
          <a:noFill/>
          <a:ln w="38100">
            <a:solidFill>
              <a:schemeClr val="accent4"/>
            </a:solidFill>
            <a:prstDash val="solid"/>
          </a:ln>
        </p:spPr>
      </p:sp>
      <p:sp>
        <p:nvSpPr>
          <p:cNvPr id="11" name="Tennis ball"/>
          <p:cNvSpPr/>
          <p:nvPr/>
        </p:nvSpPr>
        <p:spPr>
          <a:xfrm>
            <a:off x="7955280" y="1234440"/>
            <a:ext cx="365760" cy="36576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200" b="1" dirty="0">
                <a:solidFill>
                  <a:schemeClr val="tx1"/>
                </a:solidFill>
              </a:rPr>
              <a:t>A live view of the club's bookings</a:t>
            </a:r>
            <a:endParaRPr lang="en-US" sz="3200" dirty="0"/>
          </a:p>
        </p:txBody>
      </p:sp>
      <p:sp>
        <p:nvSpPr>
          <p:cNvPr id="3" name="Description"/>
          <p:cNvSpPr txBox="1"/>
          <p:nvPr/>
        </p:nvSpPr>
        <p:spPr>
          <a:xfrm>
            <a:off x="457200" y="1325880"/>
            <a:ext cx="4023360" cy="1554480"/>
          </a:xfrm>
          <a:prstGeom prst="rect">
            <a:avLst/>
          </a:prstGeom>
          <a:noFill/>
          <a:ln/>
        </p:spPr>
        <p:txBody>
          <a:bodyPr wrap="square" lIns="0" tIns="0" rIns="0" bIns="0" rtlCol="0" anchor="t"/>
          <a:lstStyle/>
          <a:p>
            <a:pPr indent="0" marL="0">
              <a:buNone/>
            </a:pPr>
            <a:r>
              <a:rPr lang="en-US" sz="2000" dirty="0">
                <a:solidFill>
                  <a:schemeClr val="tx1"/>
                </a:solidFill>
              </a:rPr>
              <a:t>KangaLife Tennis Court Booking System displays all tennis court bookings, members and up to date court information and prices.</a:t>
            </a:r>
            <a:endParaRPr lang="en-US" sz="2000" dirty="0"/>
          </a:p>
        </p:txBody>
      </p:sp>
      <p:sp>
        <p:nvSpPr>
          <p:cNvPr id="4" name="Why this dataset"/>
          <p:cNvSpPr txBox="1"/>
          <p:nvPr/>
        </p:nvSpPr>
        <p:spPr>
          <a:xfrm>
            <a:off x="457200" y="3108960"/>
            <a:ext cx="4023360" cy="822960"/>
          </a:xfrm>
          <a:prstGeom prst="rect">
            <a:avLst/>
          </a:prstGeom>
          <a:noFill/>
          <a:ln/>
        </p:spPr>
        <p:txBody>
          <a:bodyPr wrap="square" lIns="0" tIns="0" rIns="0" bIns="0" rtlCol="0" anchor="t"/>
          <a:lstStyle/>
          <a:p>
            <a:pPr indent="0" marL="0">
              <a:buNone/>
            </a:pPr>
            <a:r>
              <a:rPr lang="en-US" sz="1400" dirty="0">
                <a:solidFill>
                  <a:schemeClr val="accent6"/>
                </a:solidFill>
              </a:rPr>
              <a:t>I used the KangaLife dataset from Practice Assessment 2, so I could spend my time on the build.</a:t>
            </a:r>
            <a:endParaRPr lang="en-US" sz="1400" dirty="0"/>
          </a:p>
        </p:txBody>
      </p:sp>
      <p:sp>
        <p:nvSpPr>
          <p:cNvPr id="5" name="Stat card 1"/>
          <p:cNvSpPr/>
          <p:nvPr/>
        </p:nvSpPr>
        <p:spPr>
          <a:xfrm>
            <a:off x="4937760" y="1325880"/>
            <a:ext cx="374904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6" name="Stat icon circle 1"/>
          <p:cNvSpPr/>
          <p:nvPr/>
        </p:nvSpPr>
        <p:spPr>
          <a:xfrm>
            <a:off x="5166360" y="1527048"/>
            <a:ext cx="512064" cy="512064"/>
          </a:xfrm>
          <a:prstGeom prst="ellipse">
            <a:avLst/>
          </a:prstGeom>
          <a:solidFill>
            <a:schemeClr val="tx1"/>
          </a:solidFill>
          <a:ln w="12700">
            <a:solidFill>
              <a:schemeClr val="tx1"/>
            </a:solidFill>
            <a:prstDash val="solid"/>
          </a:ln>
        </p:spPr>
      </p:sp>
      <p:pic>
        <p:nvPicPr>
          <p:cNvPr id="7" name="Image 0" descr="bookings icon">    </p:cNvPr>
          <p:cNvPicPr>
            <a:picLocks noChangeAspect="1"/>
          </p:cNvPicPr>
          <p:nvPr/>
        </p:nvPicPr>
        <p:blipFill>
          <a:blip r:embed="rId1"/>
          <a:stretch>
            <a:fillRect/>
          </a:stretch>
        </p:blipFill>
        <p:spPr>
          <a:xfrm>
            <a:off x="5303520" y="1664208"/>
            <a:ext cx="237744" cy="237744"/>
          </a:xfrm>
          <a:prstGeom prst="rect">
            <a:avLst/>
          </a:prstGeom>
        </p:spPr>
      </p:pic>
      <p:sp>
        <p:nvSpPr>
          <p:cNvPr id="8" name="Stat number 1"/>
          <p:cNvSpPr txBox="1"/>
          <p:nvPr/>
        </p:nvSpPr>
        <p:spPr>
          <a:xfrm>
            <a:off x="5943600" y="1417320"/>
            <a:ext cx="1188720" cy="731520"/>
          </a:xfrm>
          <a:prstGeom prst="rect">
            <a:avLst/>
          </a:prstGeom>
          <a:noFill/>
          <a:ln/>
        </p:spPr>
        <p:txBody>
          <a:bodyPr wrap="square" lIns="0" tIns="0" rIns="0" bIns="0" rtlCol="0" anchor="ctr"/>
          <a:lstStyle/>
          <a:p>
            <a:pPr indent="0" marL="0">
              <a:buNone/>
            </a:pPr>
            <a:r>
              <a:rPr lang="en-US" sz="4000" b="1" dirty="0">
                <a:solidFill>
                  <a:schemeClr val="tx1"/>
                </a:solidFill>
              </a:rPr>
              <a:t>120</a:t>
            </a:r>
            <a:endParaRPr lang="en-US" sz="4000" dirty="0"/>
          </a:p>
        </p:txBody>
      </p:sp>
      <p:sp>
        <p:nvSpPr>
          <p:cNvPr id="9" name="Stat label 1"/>
          <p:cNvSpPr txBox="1"/>
          <p:nvPr/>
        </p:nvSpPr>
        <p:spPr>
          <a:xfrm>
            <a:off x="7132320" y="1417320"/>
            <a:ext cx="1371600" cy="731520"/>
          </a:xfrm>
          <a:prstGeom prst="rect">
            <a:avLst/>
          </a:prstGeom>
          <a:noFill/>
          <a:ln/>
        </p:spPr>
        <p:txBody>
          <a:bodyPr wrap="square" lIns="0" tIns="0" rIns="0" bIns="0" rtlCol="0" anchor="ctr"/>
          <a:lstStyle/>
          <a:p>
            <a:pPr indent="0" marL="0">
              <a:buNone/>
            </a:pPr>
            <a:r>
              <a:rPr lang="en-US" sz="1800" dirty="0">
                <a:solidFill>
                  <a:schemeClr val="accent6"/>
                </a:solidFill>
              </a:rPr>
              <a:t>bookings</a:t>
            </a:r>
            <a:endParaRPr lang="en-US" sz="1800" dirty="0"/>
          </a:p>
        </p:txBody>
      </p:sp>
      <p:sp>
        <p:nvSpPr>
          <p:cNvPr id="10" name="Stat card 2"/>
          <p:cNvSpPr/>
          <p:nvPr/>
        </p:nvSpPr>
        <p:spPr>
          <a:xfrm>
            <a:off x="4937760" y="2423160"/>
            <a:ext cx="374904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1" name="Stat icon circle 2"/>
          <p:cNvSpPr/>
          <p:nvPr/>
        </p:nvSpPr>
        <p:spPr>
          <a:xfrm>
            <a:off x="5166360" y="2624328"/>
            <a:ext cx="512064" cy="512064"/>
          </a:xfrm>
          <a:prstGeom prst="ellipse">
            <a:avLst/>
          </a:prstGeom>
          <a:solidFill>
            <a:schemeClr val="tx1"/>
          </a:solidFill>
          <a:ln w="12700">
            <a:solidFill>
              <a:schemeClr val="tx1"/>
            </a:solidFill>
            <a:prstDash val="solid"/>
          </a:ln>
        </p:spPr>
      </p:sp>
      <p:pic>
        <p:nvPicPr>
          <p:cNvPr id="12" name="Image 1" descr="members icon">    </p:cNvPr>
          <p:cNvPicPr>
            <a:picLocks noChangeAspect="1"/>
          </p:cNvPicPr>
          <p:nvPr/>
        </p:nvPicPr>
        <p:blipFill>
          <a:blip r:embed="rId2"/>
          <a:stretch>
            <a:fillRect/>
          </a:stretch>
        </p:blipFill>
        <p:spPr>
          <a:xfrm>
            <a:off x="5303520" y="2761488"/>
            <a:ext cx="237744" cy="237744"/>
          </a:xfrm>
          <a:prstGeom prst="rect">
            <a:avLst/>
          </a:prstGeom>
        </p:spPr>
      </p:pic>
      <p:sp>
        <p:nvSpPr>
          <p:cNvPr id="13" name="Stat number 2"/>
          <p:cNvSpPr txBox="1"/>
          <p:nvPr/>
        </p:nvSpPr>
        <p:spPr>
          <a:xfrm>
            <a:off x="5943600" y="2514600"/>
            <a:ext cx="1188720" cy="731520"/>
          </a:xfrm>
          <a:prstGeom prst="rect">
            <a:avLst/>
          </a:prstGeom>
          <a:noFill/>
          <a:ln/>
        </p:spPr>
        <p:txBody>
          <a:bodyPr wrap="square" lIns="0" tIns="0" rIns="0" bIns="0" rtlCol="0" anchor="ctr"/>
          <a:lstStyle/>
          <a:p>
            <a:pPr indent="0" marL="0">
              <a:buNone/>
            </a:pPr>
            <a:r>
              <a:rPr lang="en-US" sz="4000" b="1" dirty="0">
                <a:solidFill>
                  <a:schemeClr val="tx1"/>
                </a:solidFill>
              </a:rPr>
              <a:t>36</a:t>
            </a:r>
            <a:endParaRPr lang="en-US" sz="4000" dirty="0"/>
          </a:p>
        </p:txBody>
      </p:sp>
      <p:sp>
        <p:nvSpPr>
          <p:cNvPr id="14" name="Stat label 2"/>
          <p:cNvSpPr txBox="1"/>
          <p:nvPr/>
        </p:nvSpPr>
        <p:spPr>
          <a:xfrm>
            <a:off x="7132320" y="2514600"/>
            <a:ext cx="1371600" cy="731520"/>
          </a:xfrm>
          <a:prstGeom prst="rect">
            <a:avLst/>
          </a:prstGeom>
          <a:noFill/>
          <a:ln/>
        </p:spPr>
        <p:txBody>
          <a:bodyPr wrap="square" lIns="0" tIns="0" rIns="0" bIns="0" rtlCol="0" anchor="ctr"/>
          <a:lstStyle/>
          <a:p>
            <a:pPr indent="0" marL="0">
              <a:buNone/>
            </a:pPr>
            <a:r>
              <a:rPr lang="en-US" sz="1800" dirty="0">
                <a:solidFill>
                  <a:schemeClr val="accent6"/>
                </a:solidFill>
              </a:rPr>
              <a:t>members</a:t>
            </a:r>
            <a:endParaRPr lang="en-US" sz="1800" dirty="0"/>
          </a:p>
        </p:txBody>
      </p:sp>
      <p:sp>
        <p:nvSpPr>
          <p:cNvPr id="15" name="Stat card 3"/>
          <p:cNvSpPr/>
          <p:nvPr/>
        </p:nvSpPr>
        <p:spPr>
          <a:xfrm>
            <a:off x="4937760" y="3520440"/>
            <a:ext cx="374904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6" name="Stat icon circle 3"/>
          <p:cNvSpPr/>
          <p:nvPr/>
        </p:nvSpPr>
        <p:spPr>
          <a:xfrm>
            <a:off x="5166360" y="3721608"/>
            <a:ext cx="512064" cy="512064"/>
          </a:xfrm>
          <a:prstGeom prst="ellipse">
            <a:avLst/>
          </a:prstGeom>
          <a:solidFill>
            <a:schemeClr val="tx1"/>
          </a:solidFill>
          <a:ln w="12700">
            <a:solidFill>
              <a:schemeClr val="tx1"/>
            </a:solidFill>
            <a:prstDash val="solid"/>
          </a:ln>
        </p:spPr>
      </p:sp>
      <p:pic>
        <p:nvPicPr>
          <p:cNvPr id="17" name="Image 2" descr="courts icon">    </p:cNvPr>
          <p:cNvPicPr>
            <a:picLocks noChangeAspect="1"/>
          </p:cNvPicPr>
          <p:nvPr/>
        </p:nvPicPr>
        <p:blipFill>
          <a:blip r:embed="rId3"/>
          <a:stretch>
            <a:fillRect/>
          </a:stretch>
        </p:blipFill>
        <p:spPr>
          <a:xfrm>
            <a:off x="5303520" y="3858768"/>
            <a:ext cx="237744" cy="237744"/>
          </a:xfrm>
          <a:prstGeom prst="rect">
            <a:avLst/>
          </a:prstGeom>
        </p:spPr>
      </p:pic>
      <p:sp>
        <p:nvSpPr>
          <p:cNvPr id="18" name="Stat number 3"/>
          <p:cNvSpPr txBox="1"/>
          <p:nvPr/>
        </p:nvSpPr>
        <p:spPr>
          <a:xfrm>
            <a:off x="5943600" y="3611880"/>
            <a:ext cx="1188720" cy="731520"/>
          </a:xfrm>
          <a:prstGeom prst="rect">
            <a:avLst/>
          </a:prstGeom>
          <a:noFill/>
          <a:ln/>
        </p:spPr>
        <p:txBody>
          <a:bodyPr wrap="square" lIns="0" tIns="0" rIns="0" bIns="0" rtlCol="0" anchor="ctr"/>
          <a:lstStyle/>
          <a:p>
            <a:pPr indent="0" marL="0">
              <a:buNone/>
            </a:pPr>
            <a:r>
              <a:rPr lang="en-US" sz="4000" b="1" dirty="0">
                <a:solidFill>
                  <a:schemeClr val="tx1"/>
                </a:solidFill>
              </a:rPr>
              <a:t>15</a:t>
            </a:r>
            <a:endParaRPr lang="en-US" sz="4000" dirty="0"/>
          </a:p>
        </p:txBody>
      </p:sp>
      <p:sp>
        <p:nvSpPr>
          <p:cNvPr id="19" name="Stat label 3"/>
          <p:cNvSpPr txBox="1"/>
          <p:nvPr/>
        </p:nvSpPr>
        <p:spPr>
          <a:xfrm>
            <a:off x="7132320" y="3611880"/>
            <a:ext cx="1371600" cy="731520"/>
          </a:xfrm>
          <a:prstGeom prst="rect">
            <a:avLst/>
          </a:prstGeom>
          <a:noFill/>
          <a:ln/>
        </p:spPr>
        <p:txBody>
          <a:bodyPr wrap="square" lIns="0" tIns="0" rIns="0" bIns="0" rtlCol="0" anchor="ctr"/>
          <a:lstStyle/>
          <a:p>
            <a:pPr indent="0" marL="0">
              <a:buNone/>
            </a:pPr>
            <a:r>
              <a:rPr lang="en-US" sz="1800" dirty="0">
                <a:solidFill>
                  <a:schemeClr val="accent6"/>
                </a:solidFill>
              </a:rPr>
              <a:t>courts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200" b="1" dirty="0">
                <a:solidFill>
                  <a:schemeClr val="tx1"/>
                </a:solidFill>
              </a:rPr>
              <a:t>Three tables, linked by foreign keys</a:t>
            </a:r>
            <a:endParaRPr lang="en-US" sz="3200" dirty="0"/>
          </a:p>
        </p:txBody>
      </p:sp>
      <p:sp>
        <p:nvSpPr>
          <p:cNvPr id="3" name="Table card courts"/>
          <p:cNvSpPr/>
          <p:nvPr/>
        </p:nvSpPr>
        <p:spPr>
          <a:xfrm>
            <a:off x="457200" y="1371600"/>
            <a:ext cx="2011680" cy="237744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4" name="Table name courts"/>
          <p:cNvSpPr txBox="1"/>
          <p:nvPr/>
        </p:nvSpPr>
        <p:spPr>
          <a:xfrm>
            <a:off x="640080" y="1554480"/>
            <a:ext cx="1645920" cy="411480"/>
          </a:xfrm>
          <a:prstGeom prst="rect">
            <a:avLst/>
          </a:prstGeom>
          <a:noFill/>
          <a:ln/>
        </p:spPr>
        <p:txBody>
          <a:bodyPr wrap="square" lIns="0" tIns="0" rIns="0" bIns="0" rtlCol="0" anchor="t"/>
          <a:lstStyle/>
          <a:p>
            <a:pPr indent="0" marL="0">
              <a:buNone/>
            </a:pPr>
            <a:r>
              <a:rPr lang="en-US" sz="2200" b="1" dirty="0">
                <a:solidFill>
                  <a:schemeClr val="tx1"/>
                </a:solidFill>
              </a:rPr>
              <a:t>courts</a:t>
            </a:r>
            <a:endParaRPr lang="en-US" sz="2200" dirty="0"/>
          </a:p>
        </p:txBody>
      </p:sp>
      <p:sp>
        <p:nvSpPr>
          <p:cNvPr id="5" name="Table columns courts"/>
          <p:cNvSpPr txBox="1"/>
          <p:nvPr/>
        </p:nvSpPr>
        <p:spPr>
          <a:xfrm>
            <a:off x="640080" y="2103120"/>
            <a:ext cx="1645920" cy="146304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court_number</a:t>
            </a:r>
            <a:pPr indent="0" marL="0">
              <a:spcAft>
                <a:spcPts val="600"/>
              </a:spcAft>
              <a:buNone/>
            </a:pPr>
            <a:r>
              <a:rPr lang="en-US" sz="1400" b="1" dirty="0">
                <a:solidFill>
                  <a:schemeClr val="accent2"/>
                </a:solidFill>
              </a:rPr>
              <a:t>  PK</a:t>
            </a:r>
            <a:endParaRPr lang="en-US" sz="1400" dirty="0"/>
          </a:p>
          <a:p>
            <a:pPr indent="0" marL="0">
              <a:spcAft>
                <a:spcPts val="600"/>
              </a:spcAft>
              <a:buNone/>
            </a:pPr>
            <a:r>
              <a:rPr lang="en-US" sz="1400" dirty="0">
                <a:solidFill>
                  <a:schemeClr val="tx1"/>
                </a:solidFill>
              </a:rPr>
              <a:t>surface</a:t>
            </a:r>
            <a:endParaRPr lang="en-US" sz="1400" dirty="0"/>
          </a:p>
          <a:p>
            <a:pPr indent="0" marL="0">
              <a:spcAft>
                <a:spcPts val="600"/>
              </a:spcAft>
              <a:buNone/>
            </a:pPr>
            <a:r>
              <a:rPr lang="en-US" sz="1400" dirty="0">
                <a:solidFill>
                  <a:schemeClr val="tx1"/>
                </a:solidFill>
              </a:rPr>
              <a:t>day_hire_price</a:t>
            </a:r>
            <a:endParaRPr lang="en-US" sz="1400" dirty="0"/>
          </a:p>
          <a:p>
            <a:pPr indent="0" marL="0">
              <a:spcAft>
                <a:spcPts val="600"/>
              </a:spcAft>
              <a:buNone/>
            </a:pPr>
            <a:r>
              <a:rPr lang="en-US" sz="1400" dirty="0">
                <a:solidFill>
                  <a:schemeClr val="tx1"/>
                </a:solidFill>
              </a:rPr>
              <a:t>night_hire_price</a:t>
            </a:r>
            <a:endParaRPr lang="en-US" sz="1400" dirty="0"/>
          </a:p>
        </p:txBody>
      </p:sp>
      <p:sp>
        <p:nvSpPr>
          <p:cNvPr id="6" name="Table card bookings"/>
          <p:cNvSpPr/>
          <p:nvPr/>
        </p:nvSpPr>
        <p:spPr>
          <a:xfrm>
            <a:off x="3246120" y="1371600"/>
            <a:ext cx="265176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7" name="Table name bookings"/>
          <p:cNvSpPr txBox="1"/>
          <p:nvPr/>
        </p:nvSpPr>
        <p:spPr>
          <a:xfrm>
            <a:off x="3429000" y="1554480"/>
            <a:ext cx="2286000" cy="411480"/>
          </a:xfrm>
          <a:prstGeom prst="rect">
            <a:avLst/>
          </a:prstGeom>
          <a:noFill/>
          <a:ln/>
        </p:spPr>
        <p:txBody>
          <a:bodyPr wrap="square" lIns="0" tIns="0" rIns="0" bIns="0" rtlCol="0" anchor="t"/>
          <a:lstStyle/>
          <a:p>
            <a:pPr indent="0" marL="0">
              <a:buNone/>
            </a:pPr>
            <a:r>
              <a:rPr lang="en-US" sz="2200" b="1" dirty="0">
                <a:solidFill>
                  <a:schemeClr val="tx1"/>
                </a:solidFill>
              </a:rPr>
              <a:t>bookings</a:t>
            </a:r>
            <a:endParaRPr lang="en-US" sz="2200" dirty="0"/>
          </a:p>
        </p:txBody>
      </p:sp>
      <p:sp>
        <p:nvSpPr>
          <p:cNvPr id="8" name="Table columns bookings"/>
          <p:cNvSpPr txBox="1"/>
          <p:nvPr/>
        </p:nvSpPr>
        <p:spPr>
          <a:xfrm>
            <a:off x="3429000" y="2103120"/>
            <a:ext cx="2286000" cy="146304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booking_id</a:t>
            </a:r>
            <a:pPr indent="0" marL="0">
              <a:spcAft>
                <a:spcPts val="600"/>
              </a:spcAft>
              <a:buNone/>
            </a:pPr>
            <a:r>
              <a:rPr lang="en-US" sz="1400" b="1" dirty="0">
                <a:solidFill>
                  <a:schemeClr val="accent2"/>
                </a:solidFill>
              </a:rPr>
              <a:t>  PK</a:t>
            </a:r>
            <a:endParaRPr lang="en-US" sz="1400" dirty="0"/>
          </a:p>
          <a:p>
            <a:pPr indent="0" marL="0">
              <a:spcAft>
                <a:spcPts val="600"/>
              </a:spcAft>
              <a:buNone/>
            </a:pPr>
            <a:r>
              <a:rPr lang="en-US" sz="1400" b="1" dirty="0">
                <a:solidFill>
                  <a:schemeClr val="tx1"/>
                </a:solidFill>
              </a:rPr>
              <a:t>court_number</a:t>
            </a:r>
            <a:pPr indent="0" marL="0">
              <a:spcAft>
                <a:spcPts val="600"/>
              </a:spcAft>
              <a:buNone/>
            </a:pPr>
            <a:r>
              <a:rPr lang="en-US" sz="1400" b="1" dirty="0">
                <a:solidFill>
                  <a:schemeClr val="accent2"/>
                </a:solidFill>
              </a:rPr>
              <a:t>  FK</a:t>
            </a:r>
            <a:endParaRPr lang="en-US" sz="1400" dirty="0"/>
          </a:p>
          <a:p>
            <a:pPr indent="0" marL="0">
              <a:spcAft>
                <a:spcPts val="600"/>
              </a:spcAft>
              <a:buNone/>
            </a:pPr>
            <a:r>
              <a:rPr lang="en-US" sz="1400" b="1" dirty="0">
                <a:solidFill>
                  <a:schemeClr val="tx1"/>
                </a:solidFill>
              </a:rPr>
              <a:t>member_id</a:t>
            </a:r>
            <a:pPr indent="0" marL="0">
              <a:spcAft>
                <a:spcPts val="600"/>
              </a:spcAft>
              <a:buNone/>
            </a:pPr>
            <a:r>
              <a:rPr lang="en-US" sz="1400" b="1" dirty="0">
                <a:solidFill>
                  <a:schemeClr val="accent2"/>
                </a:solidFill>
              </a:rPr>
              <a:t>  FK, optional</a:t>
            </a:r>
            <a:endParaRPr lang="en-US" sz="1400" dirty="0"/>
          </a:p>
          <a:p>
            <a:pPr indent="0" marL="0">
              <a:spcAft>
                <a:spcPts val="600"/>
              </a:spcAft>
              <a:buNone/>
            </a:pPr>
            <a:r>
              <a:rPr lang="en-US" sz="1400" dirty="0">
                <a:solidFill>
                  <a:schemeClr val="tx1"/>
                </a:solidFill>
              </a:rPr>
              <a:t>date, times, session</a:t>
            </a:r>
            <a:endParaRPr lang="en-US" sz="1400" dirty="0"/>
          </a:p>
          <a:p>
            <a:pPr indent="0" marL="0">
              <a:spcAft>
                <a:spcPts val="600"/>
              </a:spcAft>
              <a:buNone/>
            </a:pPr>
            <a:r>
              <a:rPr lang="en-US" sz="1400" dirty="0">
                <a:solidFill>
                  <a:schemeClr val="tx1"/>
                </a:solidFill>
              </a:rPr>
              <a:t>hirer_name, amount</a:t>
            </a:r>
            <a:endParaRPr lang="en-US" sz="1400" dirty="0"/>
          </a:p>
        </p:txBody>
      </p:sp>
      <p:sp>
        <p:nvSpPr>
          <p:cNvPr id="9" name="Table card members"/>
          <p:cNvSpPr/>
          <p:nvPr/>
        </p:nvSpPr>
        <p:spPr>
          <a:xfrm>
            <a:off x="6675120" y="1371600"/>
            <a:ext cx="2011680" cy="237744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0" name="Table name members"/>
          <p:cNvSpPr txBox="1"/>
          <p:nvPr/>
        </p:nvSpPr>
        <p:spPr>
          <a:xfrm>
            <a:off x="6858000" y="1554480"/>
            <a:ext cx="1645920" cy="411480"/>
          </a:xfrm>
          <a:prstGeom prst="rect">
            <a:avLst/>
          </a:prstGeom>
          <a:noFill/>
          <a:ln/>
        </p:spPr>
        <p:txBody>
          <a:bodyPr wrap="square" lIns="0" tIns="0" rIns="0" bIns="0" rtlCol="0" anchor="t"/>
          <a:lstStyle/>
          <a:p>
            <a:pPr indent="0" marL="0">
              <a:buNone/>
            </a:pPr>
            <a:r>
              <a:rPr lang="en-US" sz="2200" b="1" dirty="0">
                <a:solidFill>
                  <a:schemeClr val="tx1"/>
                </a:solidFill>
              </a:rPr>
              <a:t>members</a:t>
            </a:r>
            <a:endParaRPr lang="en-US" sz="2200" dirty="0"/>
          </a:p>
        </p:txBody>
      </p:sp>
      <p:sp>
        <p:nvSpPr>
          <p:cNvPr id="11" name="Table columns members"/>
          <p:cNvSpPr txBox="1"/>
          <p:nvPr/>
        </p:nvSpPr>
        <p:spPr>
          <a:xfrm>
            <a:off x="6858000" y="2103120"/>
            <a:ext cx="1645920" cy="146304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member_id</a:t>
            </a:r>
            <a:pPr indent="0" marL="0">
              <a:spcAft>
                <a:spcPts val="600"/>
              </a:spcAft>
              <a:buNone/>
            </a:pPr>
            <a:r>
              <a:rPr lang="en-US" sz="1400" b="1" dirty="0">
                <a:solidFill>
                  <a:schemeClr val="accent2"/>
                </a:solidFill>
              </a:rPr>
              <a:t>  PK</a:t>
            </a:r>
            <a:endParaRPr lang="en-US" sz="1400" dirty="0"/>
          </a:p>
          <a:p>
            <a:pPr indent="0" marL="0">
              <a:spcAft>
                <a:spcPts val="600"/>
              </a:spcAft>
              <a:buNone/>
            </a:pPr>
            <a:r>
              <a:rPr lang="en-US" sz="1400" dirty="0">
                <a:solidFill>
                  <a:schemeClr val="tx1"/>
                </a:solidFill>
              </a:rPr>
              <a:t>name</a:t>
            </a:r>
            <a:endParaRPr lang="en-US" sz="1400" dirty="0"/>
          </a:p>
          <a:p>
            <a:pPr indent="0" marL="0">
              <a:spcAft>
                <a:spcPts val="600"/>
              </a:spcAft>
              <a:buNone/>
            </a:pPr>
            <a:r>
              <a:rPr lang="en-US" sz="1400" dirty="0">
                <a:solidFill>
                  <a:schemeClr val="tx1"/>
                </a:solidFill>
              </a:rPr>
              <a:t>date_of_birth</a:t>
            </a:r>
            <a:endParaRPr lang="en-US" sz="1400" dirty="0"/>
          </a:p>
          <a:p>
            <a:pPr indent="0" marL="0">
              <a:spcAft>
                <a:spcPts val="600"/>
              </a:spcAft>
              <a:buNone/>
            </a:pPr>
            <a:r>
              <a:rPr lang="en-US" sz="1400" dirty="0">
                <a:solidFill>
                  <a:schemeClr val="tx1"/>
                </a:solidFill>
              </a:rPr>
              <a:t>member_level</a:t>
            </a:r>
            <a:endParaRPr lang="en-US" sz="1400" dirty="0"/>
          </a:p>
        </p:txBody>
      </p:sp>
      <p:sp>
        <p:nvSpPr>
          <p:cNvPr id="12" name="Link courts to bookings"/>
          <p:cNvSpPr/>
          <p:nvPr/>
        </p:nvSpPr>
        <p:spPr>
          <a:xfrm>
            <a:off x="2468880" y="2560320"/>
            <a:ext cx="777240" cy="0"/>
          </a:xfrm>
          <a:prstGeom prst="line">
            <a:avLst/>
          </a:prstGeom>
          <a:noFill/>
          <a:ln w="31750">
            <a:solidFill>
              <a:schemeClr val="accent3"/>
            </a:solidFill>
            <a:prstDash val="solid"/>
          </a:ln>
        </p:spPr>
      </p:sp>
      <p:sp>
        <p:nvSpPr>
          <p:cNvPr id="13" name="Link bookings to members"/>
          <p:cNvSpPr/>
          <p:nvPr/>
        </p:nvSpPr>
        <p:spPr>
          <a:xfrm>
            <a:off x="5897880" y="2560320"/>
            <a:ext cx="777240" cy="0"/>
          </a:xfrm>
          <a:prstGeom prst="line">
            <a:avLst/>
          </a:prstGeom>
          <a:noFill/>
          <a:ln w="31750">
            <a:solidFill>
              <a:schemeClr val="accent3"/>
            </a:solidFill>
            <a:prstDash val="solid"/>
          </a:ln>
        </p:spPr>
      </p:sp>
      <p:sp>
        <p:nvSpPr>
          <p:cNvPr id="14" name="Label courts to bookings"/>
          <p:cNvSpPr txBox="1"/>
          <p:nvPr/>
        </p:nvSpPr>
        <p:spPr>
          <a:xfrm>
            <a:off x="2468880" y="2103120"/>
            <a:ext cx="777240" cy="365760"/>
          </a:xfrm>
          <a:prstGeom prst="rect">
            <a:avLst/>
          </a:prstGeom>
          <a:noFill/>
          <a:ln/>
        </p:spPr>
        <p:txBody>
          <a:bodyPr wrap="square" lIns="0" tIns="0" rIns="0" bIns="0" rtlCol="0" anchor="b"/>
          <a:lstStyle/>
          <a:p>
            <a:pPr algn="ctr" indent="0" marL="0">
              <a:buNone/>
            </a:pPr>
            <a:r>
              <a:rPr lang="en-US" sz="1200" dirty="0">
                <a:solidFill>
                  <a:schemeClr val="accent6"/>
                </a:solidFill>
              </a:rPr>
              <a:t>1 to many</a:t>
            </a:r>
            <a:endParaRPr lang="en-US" sz="1200" dirty="0"/>
          </a:p>
        </p:txBody>
      </p:sp>
      <p:sp>
        <p:nvSpPr>
          <p:cNvPr id="15" name="Label members to bookings"/>
          <p:cNvSpPr txBox="1"/>
          <p:nvPr/>
        </p:nvSpPr>
        <p:spPr>
          <a:xfrm>
            <a:off x="5897880" y="2103120"/>
            <a:ext cx="777240" cy="365760"/>
          </a:xfrm>
          <a:prstGeom prst="rect">
            <a:avLst/>
          </a:prstGeom>
          <a:noFill/>
          <a:ln/>
        </p:spPr>
        <p:txBody>
          <a:bodyPr wrap="square" lIns="0" tIns="0" rIns="0" bIns="0" rtlCol="0" anchor="b"/>
          <a:lstStyle/>
          <a:p>
            <a:pPr algn="ctr" indent="0" marL="0">
              <a:buNone/>
            </a:pPr>
            <a:r>
              <a:rPr lang="en-US" sz="1200" dirty="0">
                <a:solidFill>
                  <a:schemeClr val="accent6"/>
                </a:solidFill>
              </a:rPr>
              <a:t>0 or 1 to many</a:t>
            </a:r>
            <a:endParaRPr lang="en-US" sz="1200" dirty="0"/>
          </a:p>
        </p:txBody>
      </p:sp>
      <p:sp>
        <p:nvSpPr>
          <p:cNvPr id="16" name="Data model caption"/>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400" dirty="0">
                <a:solidFill>
                  <a:schemeClr val="accent6"/>
                </a:solidFill>
              </a:rPr>
              <a:t>Non-member bookings have no member_id, so that foreign key is allowed to be empty.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200" b="1" dirty="0">
                <a:solidFill>
                  <a:schemeClr val="tx1"/>
                </a:solidFill>
              </a:rPr>
              <a:t>How a dynamic route gets its data</a:t>
            </a:r>
            <a:endParaRPr lang="en-US" sz="3200" dirty="0"/>
          </a:p>
        </p:txBody>
      </p:sp>
      <p:sp>
        <p:nvSpPr>
          <p:cNvPr id="3" name="Step card 1"/>
          <p:cNvSpPr/>
          <p:nvPr/>
        </p:nvSpPr>
        <p:spPr>
          <a:xfrm>
            <a:off x="457200" y="1371600"/>
            <a:ext cx="1463040" cy="182880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4" name="Step icon circle 1"/>
          <p:cNvSpPr/>
          <p:nvPr/>
        </p:nvSpPr>
        <p:spPr>
          <a:xfrm>
            <a:off x="941832" y="1554480"/>
            <a:ext cx="493776" cy="493776"/>
          </a:xfrm>
          <a:prstGeom prst="ellipse">
            <a:avLst/>
          </a:prstGeom>
          <a:solidFill>
            <a:schemeClr val="tx1"/>
          </a:solidFill>
          <a:ln w="12700">
            <a:solidFill>
              <a:schemeClr val="tx1"/>
            </a:solidFill>
            <a:prstDash val="solid"/>
          </a:ln>
        </p:spPr>
      </p:sp>
      <p:pic>
        <p:nvPicPr>
          <p:cNvPr id="5" name="Image 0" descr="URL icon">    </p:cNvPr>
          <p:cNvPicPr>
            <a:picLocks noChangeAspect="1"/>
          </p:cNvPicPr>
          <p:nvPr/>
        </p:nvPicPr>
        <p:blipFill>
          <a:blip r:embed="rId1"/>
          <a:stretch>
            <a:fillRect/>
          </a:stretch>
        </p:blipFill>
        <p:spPr>
          <a:xfrm>
            <a:off x="1069848" y="1682496"/>
            <a:ext cx="237744" cy="237744"/>
          </a:xfrm>
          <a:prstGeom prst="rect">
            <a:avLst/>
          </a:prstGeom>
        </p:spPr>
      </p:pic>
      <p:sp>
        <p:nvSpPr>
          <p:cNvPr id="6" name="Step title 1"/>
          <p:cNvSpPr txBox="1"/>
          <p:nvPr/>
        </p:nvSpPr>
        <p:spPr>
          <a:xfrm>
            <a:off x="548640" y="214884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URL</a:t>
            </a:r>
            <a:endParaRPr lang="en-US" sz="1600" dirty="0"/>
          </a:p>
        </p:txBody>
      </p:sp>
      <p:sp>
        <p:nvSpPr>
          <p:cNvPr id="7" name="Step detail 1"/>
          <p:cNvSpPr txBox="1"/>
          <p:nvPr/>
        </p:nvSpPr>
        <p:spPr>
          <a:xfrm>
            <a:off x="548640" y="2468880"/>
            <a:ext cx="1280160" cy="640080"/>
          </a:xfrm>
          <a:prstGeom prst="rect">
            <a:avLst/>
          </a:prstGeom>
          <a:noFill/>
          <a:ln/>
        </p:spPr>
        <p:txBody>
          <a:bodyPr wrap="square" lIns="0" tIns="0" rIns="0" bIns="0" rtlCol="0" anchor="t"/>
          <a:lstStyle/>
          <a:p>
            <a:pPr algn="ctr" indent="0" marL="0">
              <a:buNone/>
            </a:pPr>
            <a:r>
              <a:rPr lang="en-US" sz="1200" dirty="0">
                <a:solidFill>
                  <a:schemeClr val="accent6"/>
                </a:solidFill>
              </a:rPr>
              <a:t>/courts/3</a:t>
            </a:r>
            <a:endParaRPr lang="en-US" sz="1200" dirty="0"/>
          </a:p>
        </p:txBody>
      </p:sp>
      <p:sp>
        <p:nvSpPr>
          <p:cNvPr id="8" name="Arrow 1"/>
          <p:cNvSpPr/>
          <p:nvPr/>
        </p:nvSpPr>
        <p:spPr>
          <a:xfrm>
            <a:off x="1947672" y="2194560"/>
            <a:ext cx="173736" cy="182880"/>
          </a:xfrm>
          <a:prstGeom prst="rightArrow">
            <a:avLst/>
          </a:prstGeom>
          <a:solidFill>
            <a:schemeClr val="accent3"/>
          </a:solidFill>
          <a:ln w="12700">
            <a:solidFill>
              <a:schemeClr val="accent3"/>
            </a:solidFill>
            <a:prstDash val="solid"/>
          </a:ln>
        </p:spPr>
      </p:sp>
      <p:sp>
        <p:nvSpPr>
          <p:cNvPr id="9" name="Step card 2"/>
          <p:cNvSpPr/>
          <p:nvPr/>
        </p:nvSpPr>
        <p:spPr>
          <a:xfrm>
            <a:off x="2148840" y="1371600"/>
            <a:ext cx="1463040" cy="182880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0" name="Step icon circle 2"/>
          <p:cNvSpPr/>
          <p:nvPr/>
        </p:nvSpPr>
        <p:spPr>
          <a:xfrm>
            <a:off x="2633472" y="1554480"/>
            <a:ext cx="493776" cy="493776"/>
          </a:xfrm>
          <a:prstGeom prst="ellipse">
            <a:avLst/>
          </a:prstGeom>
          <a:solidFill>
            <a:schemeClr val="tx1"/>
          </a:solidFill>
          <a:ln w="12700">
            <a:solidFill>
              <a:schemeClr val="tx1"/>
            </a:solidFill>
            <a:prstDash val="solid"/>
          </a:ln>
        </p:spPr>
      </p:sp>
      <p:pic>
        <p:nvPicPr>
          <p:cNvPr id="11" name="Image 1" descr="useParams icon">    </p:cNvPr>
          <p:cNvPicPr>
            <a:picLocks noChangeAspect="1"/>
          </p:cNvPicPr>
          <p:nvPr/>
        </p:nvPicPr>
        <p:blipFill>
          <a:blip r:embed="rId2"/>
          <a:stretch>
            <a:fillRect/>
          </a:stretch>
        </p:blipFill>
        <p:spPr>
          <a:xfrm>
            <a:off x="2761488" y="1682496"/>
            <a:ext cx="237744" cy="237744"/>
          </a:xfrm>
          <a:prstGeom prst="rect">
            <a:avLst/>
          </a:prstGeom>
        </p:spPr>
      </p:pic>
      <p:sp>
        <p:nvSpPr>
          <p:cNvPr id="12" name="Step title 2"/>
          <p:cNvSpPr txBox="1"/>
          <p:nvPr/>
        </p:nvSpPr>
        <p:spPr>
          <a:xfrm>
            <a:off x="2240280" y="214884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useParams</a:t>
            </a:r>
            <a:endParaRPr lang="en-US" sz="1600" dirty="0"/>
          </a:p>
        </p:txBody>
      </p:sp>
      <p:sp>
        <p:nvSpPr>
          <p:cNvPr id="13" name="Step detail 2"/>
          <p:cNvSpPr txBox="1"/>
          <p:nvPr/>
        </p:nvSpPr>
        <p:spPr>
          <a:xfrm>
            <a:off x="2240280" y="2468880"/>
            <a:ext cx="1280160" cy="640080"/>
          </a:xfrm>
          <a:prstGeom prst="rect">
            <a:avLst/>
          </a:prstGeom>
          <a:noFill/>
          <a:ln/>
        </p:spPr>
        <p:txBody>
          <a:bodyPr wrap="square" lIns="0" tIns="0" rIns="0" bIns="0" rtlCol="0" anchor="t"/>
          <a:lstStyle/>
          <a:p>
            <a:pPr algn="ctr" indent="0" marL="0">
              <a:buNone/>
            </a:pPr>
            <a:r>
              <a:rPr lang="en-US" sz="1200" dirty="0">
                <a:solidFill>
                  <a:schemeClr val="accent6"/>
                </a:solidFill>
              </a:rPr>
              <a:t>reads the id</a:t>
            </a:r>
            <a:endParaRPr lang="en-US" sz="1200" dirty="0"/>
          </a:p>
        </p:txBody>
      </p:sp>
      <p:sp>
        <p:nvSpPr>
          <p:cNvPr id="14" name="Arrow 2"/>
          <p:cNvSpPr/>
          <p:nvPr/>
        </p:nvSpPr>
        <p:spPr>
          <a:xfrm>
            <a:off x="3639312" y="2194560"/>
            <a:ext cx="173736" cy="182880"/>
          </a:xfrm>
          <a:prstGeom prst="rightArrow">
            <a:avLst/>
          </a:prstGeom>
          <a:solidFill>
            <a:schemeClr val="accent3"/>
          </a:solidFill>
          <a:ln w="12700">
            <a:solidFill>
              <a:schemeClr val="accent3"/>
            </a:solidFill>
            <a:prstDash val="solid"/>
          </a:ln>
        </p:spPr>
      </p:sp>
      <p:sp>
        <p:nvSpPr>
          <p:cNvPr id="15" name="Step card 3"/>
          <p:cNvSpPr/>
          <p:nvPr/>
        </p:nvSpPr>
        <p:spPr>
          <a:xfrm>
            <a:off x="3840480" y="1371600"/>
            <a:ext cx="1463040" cy="182880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6" name="Step icon circle 3"/>
          <p:cNvSpPr/>
          <p:nvPr/>
        </p:nvSpPr>
        <p:spPr>
          <a:xfrm>
            <a:off x="4325112" y="1554480"/>
            <a:ext cx="493776" cy="493776"/>
          </a:xfrm>
          <a:prstGeom prst="ellipse">
            <a:avLst/>
          </a:prstGeom>
          <a:solidFill>
            <a:schemeClr val="tx1"/>
          </a:solidFill>
          <a:ln w="12700">
            <a:solidFill>
              <a:schemeClr val="tx1"/>
            </a:solidFill>
            <a:prstDash val="solid"/>
          </a:ln>
        </p:spPr>
      </p:sp>
      <p:pic>
        <p:nvPicPr>
          <p:cNvPr id="17" name="Image 2" descr="useEffect icon">    </p:cNvPr>
          <p:cNvPicPr>
            <a:picLocks noChangeAspect="1"/>
          </p:cNvPicPr>
          <p:nvPr/>
        </p:nvPicPr>
        <p:blipFill>
          <a:blip r:embed="rId3"/>
          <a:stretch>
            <a:fillRect/>
          </a:stretch>
        </p:blipFill>
        <p:spPr>
          <a:xfrm>
            <a:off x="4453128" y="1682496"/>
            <a:ext cx="237744" cy="237744"/>
          </a:xfrm>
          <a:prstGeom prst="rect">
            <a:avLst/>
          </a:prstGeom>
        </p:spPr>
      </p:pic>
      <p:sp>
        <p:nvSpPr>
          <p:cNvPr id="18" name="Step title 3"/>
          <p:cNvSpPr txBox="1"/>
          <p:nvPr/>
        </p:nvSpPr>
        <p:spPr>
          <a:xfrm>
            <a:off x="3931920" y="214884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useEffect</a:t>
            </a:r>
            <a:endParaRPr lang="en-US" sz="1600" dirty="0"/>
          </a:p>
        </p:txBody>
      </p:sp>
      <p:sp>
        <p:nvSpPr>
          <p:cNvPr id="19" name="Step detail 3"/>
          <p:cNvSpPr txBox="1"/>
          <p:nvPr/>
        </p:nvSpPr>
        <p:spPr>
          <a:xfrm>
            <a:off x="3931920" y="2468880"/>
            <a:ext cx="1280160" cy="640080"/>
          </a:xfrm>
          <a:prstGeom prst="rect">
            <a:avLst/>
          </a:prstGeom>
          <a:noFill/>
          <a:ln/>
        </p:spPr>
        <p:txBody>
          <a:bodyPr wrap="square" lIns="0" tIns="0" rIns="0" bIns="0" rtlCol="0" anchor="t"/>
          <a:lstStyle/>
          <a:p>
            <a:pPr algn="ctr" indent="0" marL="0">
              <a:buNone/>
            </a:pPr>
            <a:r>
              <a:rPr lang="en-US" sz="1200" dirty="0">
                <a:solidFill>
                  <a:schemeClr val="accent6"/>
                </a:solidFill>
              </a:rPr>
              <a:t>calls getCourt(id)</a:t>
            </a:r>
            <a:endParaRPr lang="en-US" sz="1200" dirty="0"/>
          </a:p>
        </p:txBody>
      </p:sp>
      <p:sp>
        <p:nvSpPr>
          <p:cNvPr id="20" name="Arrow 3"/>
          <p:cNvSpPr/>
          <p:nvPr/>
        </p:nvSpPr>
        <p:spPr>
          <a:xfrm>
            <a:off x="5330952" y="2194560"/>
            <a:ext cx="173736" cy="182880"/>
          </a:xfrm>
          <a:prstGeom prst="rightArrow">
            <a:avLst/>
          </a:prstGeom>
          <a:solidFill>
            <a:schemeClr val="accent3"/>
          </a:solidFill>
          <a:ln w="12700">
            <a:solidFill>
              <a:schemeClr val="accent3"/>
            </a:solidFill>
            <a:prstDash val="solid"/>
          </a:ln>
        </p:spPr>
      </p:sp>
      <p:sp>
        <p:nvSpPr>
          <p:cNvPr id="21" name="Step card 4"/>
          <p:cNvSpPr/>
          <p:nvPr/>
        </p:nvSpPr>
        <p:spPr>
          <a:xfrm>
            <a:off x="5532120" y="1371600"/>
            <a:ext cx="1463040" cy="182880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22" name="Step icon circle 4"/>
          <p:cNvSpPr/>
          <p:nvPr/>
        </p:nvSpPr>
        <p:spPr>
          <a:xfrm>
            <a:off x="6016752" y="1554480"/>
            <a:ext cx="493776" cy="493776"/>
          </a:xfrm>
          <a:prstGeom prst="ellipse">
            <a:avLst/>
          </a:prstGeom>
          <a:solidFill>
            <a:schemeClr val="tx1"/>
          </a:solidFill>
          <a:ln w="12700">
            <a:solidFill>
              <a:schemeClr val="tx1"/>
            </a:solidFill>
            <a:prstDash val="solid"/>
          </a:ln>
        </p:spPr>
      </p:sp>
      <p:pic>
        <p:nvPicPr>
          <p:cNvPr id="23" name="Image 3" descr="Supabase icon">    </p:cNvPr>
          <p:cNvPicPr>
            <a:picLocks noChangeAspect="1"/>
          </p:cNvPicPr>
          <p:nvPr/>
        </p:nvPicPr>
        <p:blipFill>
          <a:blip r:embed="rId4"/>
          <a:stretch>
            <a:fillRect/>
          </a:stretch>
        </p:blipFill>
        <p:spPr>
          <a:xfrm>
            <a:off x="6144768" y="1682496"/>
            <a:ext cx="237744" cy="237744"/>
          </a:xfrm>
          <a:prstGeom prst="rect">
            <a:avLst/>
          </a:prstGeom>
        </p:spPr>
      </p:pic>
      <p:sp>
        <p:nvSpPr>
          <p:cNvPr id="24" name="Step title 4"/>
          <p:cNvSpPr txBox="1"/>
          <p:nvPr/>
        </p:nvSpPr>
        <p:spPr>
          <a:xfrm>
            <a:off x="5623560" y="214884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Supabase</a:t>
            </a:r>
            <a:endParaRPr lang="en-US" sz="1600" dirty="0"/>
          </a:p>
        </p:txBody>
      </p:sp>
      <p:sp>
        <p:nvSpPr>
          <p:cNvPr id="25" name="Step detail 4"/>
          <p:cNvSpPr txBox="1"/>
          <p:nvPr/>
        </p:nvSpPr>
        <p:spPr>
          <a:xfrm>
            <a:off x="5623560" y="2468880"/>
            <a:ext cx="1280160" cy="640080"/>
          </a:xfrm>
          <a:prstGeom prst="rect">
            <a:avLst/>
          </a:prstGeom>
          <a:noFill/>
          <a:ln/>
        </p:spPr>
        <p:txBody>
          <a:bodyPr wrap="square" lIns="0" tIns="0" rIns="0" bIns="0" rtlCol="0" anchor="t"/>
          <a:lstStyle/>
          <a:p>
            <a:pPr algn="ctr" indent="0" marL="0">
              <a:buNone/>
            </a:pPr>
            <a:r>
              <a:rPr lang="en-US" sz="1200" dirty="0">
                <a:solidFill>
                  <a:schemeClr val="accent6"/>
                </a:solidFill>
              </a:rPr>
              <a:t>REST call, filtered by id</a:t>
            </a:r>
            <a:endParaRPr lang="en-US" sz="1200" dirty="0"/>
          </a:p>
        </p:txBody>
      </p:sp>
      <p:sp>
        <p:nvSpPr>
          <p:cNvPr id="26" name="Arrow 4"/>
          <p:cNvSpPr/>
          <p:nvPr/>
        </p:nvSpPr>
        <p:spPr>
          <a:xfrm>
            <a:off x="7022592" y="2194560"/>
            <a:ext cx="173736" cy="182880"/>
          </a:xfrm>
          <a:prstGeom prst="rightArrow">
            <a:avLst/>
          </a:prstGeom>
          <a:solidFill>
            <a:schemeClr val="accent3"/>
          </a:solidFill>
          <a:ln w="12700">
            <a:solidFill>
              <a:schemeClr val="accent3"/>
            </a:solidFill>
            <a:prstDash val="solid"/>
          </a:ln>
        </p:spPr>
      </p:sp>
      <p:sp>
        <p:nvSpPr>
          <p:cNvPr id="27" name="Step card 5"/>
          <p:cNvSpPr/>
          <p:nvPr/>
        </p:nvSpPr>
        <p:spPr>
          <a:xfrm>
            <a:off x="7223760" y="1371600"/>
            <a:ext cx="1463040" cy="182880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28" name="Step icon circle 5"/>
          <p:cNvSpPr/>
          <p:nvPr/>
        </p:nvSpPr>
        <p:spPr>
          <a:xfrm>
            <a:off x="7708392" y="1554480"/>
            <a:ext cx="493776" cy="493776"/>
          </a:xfrm>
          <a:prstGeom prst="ellipse">
            <a:avLst/>
          </a:prstGeom>
          <a:solidFill>
            <a:schemeClr val="tx1"/>
          </a:solidFill>
          <a:ln w="12700">
            <a:solidFill>
              <a:schemeClr val="tx1"/>
            </a:solidFill>
            <a:prstDash val="solid"/>
          </a:ln>
        </p:spPr>
      </p:sp>
      <p:pic>
        <p:nvPicPr>
          <p:cNvPr id="29" name="Image 4" descr="useState icon">    </p:cNvPr>
          <p:cNvPicPr>
            <a:picLocks noChangeAspect="1"/>
          </p:cNvPicPr>
          <p:nvPr/>
        </p:nvPicPr>
        <p:blipFill>
          <a:blip r:embed="rId5"/>
          <a:stretch>
            <a:fillRect/>
          </a:stretch>
        </p:blipFill>
        <p:spPr>
          <a:xfrm>
            <a:off x="7836408" y="1682496"/>
            <a:ext cx="237744" cy="237744"/>
          </a:xfrm>
          <a:prstGeom prst="rect">
            <a:avLst/>
          </a:prstGeom>
        </p:spPr>
      </p:pic>
      <p:sp>
        <p:nvSpPr>
          <p:cNvPr id="30" name="Step title 5"/>
          <p:cNvSpPr txBox="1"/>
          <p:nvPr/>
        </p:nvSpPr>
        <p:spPr>
          <a:xfrm>
            <a:off x="7315200" y="214884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useState</a:t>
            </a:r>
            <a:endParaRPr lang="en-US" sz="1600" dirty="0"/>
          </a:p>
        </p:txBody>
      </p:sp>
      <p:sp>
        <p:nvSpPr>
          <p:cNvPr id="31" name="Step detail 5"/>
          <p:cNvSpPr txBox="1"/>
          <p:nvPr/>
        </p:nvSpPr>
        <p:spPr>
          <a:xfrm>
            <a:off x="7315200" y="2468880"/>
            <a:ext cx="1280160" cy="640080"/>
          </a:xfrm>
          <a:prstGeom prst="rect">
            <a:avLst/>
          </a:prstGeom>
          <a:noFill/>
          <a:ln/>
        </p:spPr>
        <p:txBody>
          <a:bodyPr wrap="square" lIns="0" tIns="0" rIns="0" bIns="0" rtlCol="0" anchor="t"/>
          <a:lstStyle/>
          <a:p>
            <a:pPr algn="ctr" indent="0" marL="0">
              <a:buNone/>
            </a:pPr>
            <a:r>
              <a:rPr lang="en-US" sz="1200" dirty="0">
                <a:solidFill>
                  <a:schemeClr val="accent6"/>
                </a:solidFill>
              </a:rPr>
              <a:t>stores the row, page renders</a:t>
            </a:r>
            <a:endParaRPr lang="en-US" sz="1200" dirty="0"/>
          </a:p>
        </p:txBody>
      </p:sp>
      <p:sp>
        <p:nvSpPr>
          <p:cNvPr id="32" name="Info card 1"/>
          <p:cNvSpPr/>
          <p:nvPr/>
        </p:nvSpPr>
        <p:spPr>
          <a:xfrm>
            <a:off x="457200" y="3429000"/>
            <a:ext cx="4023360" cy="1188720"/>
          </a:xfrm>
          <a:prstGeom prst="roundRect">
            <a:avLst>
              <a:gd name="adj" fmla="val 9231"/>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33" name="Info icon circle 1"/>
          <p:cNvSpPr/>
          <p:nvPr/>
        </p:nvSpPr>
        <p:spPr>
          <a:xfrm>
            <a:off x="640080" y="3611880"/>
            <a:ext cx="457200" cy="457200"/>
          </a:xfrm>
          <a:prstGeom prst="ellipse">
            <a:avLst/>
          </a:prstGeom>
          <a:solidFill>
            <a:schemeClr val="tx1"/>
          </a:solidFill>
          <a:ln w="12700">
            <a:solidFill>
              <a:schemeClr val="tx1"/>
            </a:solidFill>
            <a:prstDash val="solid"/>
          </a:ln>
        </p:spPr>
      </p:sp>
      <p:pic>
        <p:nvPicPr>
          <p:cNvPr id="34" name="Image 5" descr="2 dynamic routes icon">    </p:cNvPr>
          <p:cNvPicPr>
            <a:picLocks noChangeAspect="1"/>
          </p:cNvPicPr>
          <p:nvPr/>
        </p:nvPicPr>
        <p:blipFill>
          <a:blip r:embed="rId6"/>
          <a:stretch>
            <a:fillRect/>
          </a:stretch>
        </p:blipFill>
        <p:spPr>
          <a:xfrm>
            <a:off x="749808" y="3721608"/>
            <a:ext cx="237744" cy="237744"/>
          </a:xfrm>
          <a:prstGeom prst="rect">
            <a:avLst/>
          </a:prstGeom>
        </p:spPr>
      </p:pic>
      <p:sp>
        <p:nvSpPr>
          <p:cNvPr id="35" name="Info title 1"/>
          <p:cNvSpPr txBox="1"/>
          <p:nvPr/>
        </p:nvSpPr>
        <p:spPr>
          <a:xfrm>
            <a:off x="1280160" y="3566160"/>
            <a:ext cx="3017520" cy="320040"/>
          </a:xfrm>
          <a:prstGeom prst="rect">
            <a:avLst/>
          </a:prstGeom>
          <a:noFill/>
          <a:ln/>
        </p:spPr>
        <p:txBody>
          <a:bodyPr wrap="square" lIns="0" tIns="0" rIns="0" bIns="0" rtlCol="0" anchor="t"/>
          <a:lstStyle/>
          <a:p>
            <a:pPr indent="0" marL="0">
              <a:buNone/>
            </a:pPr>
            <a:r>
              <a:rPr lang="en-US" sz="1600" b="1" dirty="0">
                <a:solidFill>
                  <a:schemeClr val="tx1"/>
                </a:solidFill>
              </a:rPr>
              <a:t>2 dynamic routes</a:t>
            </a:r>
            <a:endParaRPr lang="en-US" sz="1600" dirty="0"/>
          </a:p>
        </p:txBody>
      </p:sp>
      <p:sp>
        <p:nvSpPr>
          <p:cNvPr id="36" name="Info text 1"/>
          <p:cNvSpPr txBox="1"/>
          <p:nvPr/>
        </p:nvSpPr>
        <p:spPr>
          <a:xfrm>
            <a:off x="1280160" y="3886200"/>
            <a:ext cx="3017520" cy="640080"/>
          </a:xfrm>
          <a:prstGeom prst="rect">
            <a:avLst/>
          </a:prstGeom>
          <a:noFill/>
          <a:ln/>
        </p:spPr>
        <p:txBody>
          <a:bodyPr wrap="square" lIns="0" tIns="0" rIns="0" bIns="0" rtlCol="0" anchor="t"/>
          <a:lstStyle/>
          <a:p>
            <a:pPr indent="0" marL="0">
              <a:buNone/>
            </a:pPr>
            <a:r>
              <a:rPr lang="en-US" sz="1400" dirty="0">
                <a:solidFill>
                  <a:schemeClr val="tx1"/>
                </a:solidFill>
              </a:rPr>
              <a:t>/courts/[id] reads a court_number and /members/[id] reads a member_id.</a:t>
            </a:r>
            <a:endParaRPr lang="en-US" sz="1400" dirty="0"/>
          </a:p>
        </p:txBody>
      </p:sp>
      <p:sp>
        <p:nvSpPr>
          <p:cNvPr id="37" name="Info card 2"/>
          <p:cNvSpPr/>
          <p:nvPr/>
        </p:nvSpPr>
        <p:spPr>
          <a:xfrm>
            <a:off x="4663440" y="3429000"/>
            <a:ext cx="4023360" cy="1188720"/>
          </a:xfrm>
          <a:prstGeom prst="roundRect">
            <a:avLst>
              <a:gd name="adj" fmla="val 9231"/>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38" name="Info icon circle 2"/>
          <p:cNvSpPr/>
          <p:nvPr/>
        </p:nvSpPr>
        <p:spPr>
          <a:xfrm>
            <a:off x="4846320" y="3611880"/>
            <a:ext cx="457200" cy="457200"/>
          </a:xfrm>
          <a:prstGeom prst="ellipse">
            <a:avLst/>
          </a:prstGeom>
          <a:solidFill>
            <a:schemeClr val="tx1"/>
          </a:solidFill>
          <a:ln w="12700">
            <a:solidFill>
              <a:schemeClr val="tx1"/>
            </a:solidFill>
            <a:prstDash val="solid"/>
          </a:ln>
        </p:spPr>
      </p:sp>
      <p:pic>
        <p:nvPicPr>
          <p:cNvPr id="39" name="Image 6" descr="Joins in one request icon">    </p:cNvPr>
          <p:cNvPicPr>
            <a:picLocks noChangeAspect="1"/>
          </p:cNvPicPr>
          <p:nvPr/>
        </p:nvPicPr>
        <p:blipFill>
          <a:blip r:embed="rId7"/>
          <a:stretch>
            <a:fillRect/>
          </a:stretch>
        </p:blipFill>
        <p:spPr>
          <a:xfrm>
            <a:off x="4956048" y="3721608"/>
            <a:ext cx="237744" cy="237744"/>
          </a:xfrm>
          <a:prstGeom prst="rect">
            <a:avLst/>
          </a:prstGeom>
        </p:spPr>
      </p:pic>
      <p:sp>
        <p:nvSpPr>
          <p:cNvPr id="40" name="Info title 2"/>
          <p:cNvSpPr txBox="1"/>
          <p:nvPr/>
        </p:nvSpPr>
        <p:spPr>
          <a:xfrm>
            <a:off x="5486400" y="3566160"/>
            <a:ext cx="3017520" cy="320040"/>
          </a:xfrm>
          <a:prstGeom prst="rect">
            <a:avLst/>
          </a:prstGeom>
          <a:noFill/>
          <a:ln/>
        </p:spPr>
        <p:txBody>
          <a:bodyPr wrap="square" lIns="0" tIns="0" rIns="0" bIns="0" rtlCol="0" anchor="t"/>
          <a:lstStyle/>
          <a:p>
            <a:pPr indent="0" marL="0">
              <a:buNone/>
            </a:pPr>
            <a:r>
              <a:rPr lang="en-US" sz="1600" b="1" dirty="0">
                <a:solidFill>
                  <a:schemeClr val="tx1"/>
                </a:solidFill>
              </a:rPr>
              <a:t>Joins in one request</a:t>
            </a:r>
            <a:endParaRPr lang="en-US" sz="1600" dirty="0"/>
          </a:p>
        </p:txBody>
      </p:sp>
      <p:sp>
        <p:nvSpPr>
          <p:cNvPr id="41" name="Info text 2"/>
          <p:cNvSpPr txBox="1"/>
          <p:nvPr/>
        </p:nvSpPr>
        <p:spPr>
          <a:xfrm>
            <a:off x="5486400" y="3886200"/>
            <a:ext cx="3017520" cy="640080"/>
          </a:xfrm>
          <a:prstGeom prst="rect">
            <a:avLst/>
          </a:prstGeom>
          <a:noFill/>
          <a:ln/>
        </p:spPr>
        <p:txBody>
          <a:bodyPr wrap="square" lIns="0" tIns="0" rIns="0" bIns="0" rtlCol="0" anchor="t"/>
          <a:lstStyle/>
          <a:p>
            <a:pPr indent="0" marL="0">
              <a:buNone/>
            </a:pPr>
            <a:r>
              <a:rPr lang="en-US" sz="1400" dirty="0">
                <a:solidFill>
                  <a:schemeClr val="tx1"/>
                </a:solidFill>
              </a:rPr>
              <a:t>Each booking comes back with its court and member nested inside.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200" b="1" dirty="0">
                <a:solidFill>
                  <a:schemeClr val="tx1"/>
                </a:solidFill>
              </a:rPr>
              <a:t>Decisions I made, and one challenge</a:t>
            </a:r>
            <a:endParaRPr lang="en-US" sz="3200" dirty="0"/>
          </a:p>
        </p:txBody>
      </p:sp>
      <p:sp>
        <p:nvSpPr>
          <p:cNvPr id="3" name="Card 1"/>
          <p:cNvSpPr/>
          <p:nvPr/>
        </p:nvSpPr>
        <p:spPr>
          <a:xfrm>
            <a:off x="457200" y="1371600"/>
            <a:ext cx="2560320" cy="274320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4" name="Card icon circle 1"/>
          <p:cNvSpPr/>
          <p:nvPr/>
        </p:nvSpPr>
        <p:spPr>
          <a:xfrm>
            <a:off x="640080" y="1554480"/>
            <a:ext cx="457200" cy="457200"/>
          </a:xfrm>
          <a:prstGeom prst="ellipse">
            <a:avLst/>
          </a:prstGeom>
          <a:solidFill>
            <a:schemeClr val="tx1"/>
          </a:solidFill>
          <a:ln w="12700">
            <a:solidFill>
              <a:schemeClr val="tx1"/>
            </a:solidFill>
            <a:prstDash val="solid"/>
          </a:ln>
        </p:spPr>
      </p:sp>
      <p:pic>
        <p:nvPicPr>
          <p:cNvPr id="5" name="Image 0" descr="hirer_name stays on bookings icon">    </p:cNvPr>
          <p:cNvPicPr>
            <a:picLocks noChangeAspect="1"/>
          </p:cNvPicPr>
          <p:nvPr/>
        </p:nvPicPr>
        <p:blipFill>
          <a:blip r:embed="rId1"/>
          <a:stretch>
            <a:fillRect/>
          </a:stretch>
        </p:blipFill>
        <p:spPr>
          <a:xfrm>
            <a:off x="749808" y="1664208"/>
            <a:ext cx="237744" cy="237744"/>
          </a:xfrm>
          <a:prstGeom prst="rect">
            <a:avLst/>
          </a:prstGeom>
        </p:spPr>
      </p:pic>
      <p:sp>
        <p:nvSpPr>
          <p:cNvPr id="6" name="Card tag 1"/>
          <p:cNvSpPr txBox="1"/>
          <p:nvPr/>
        </p:nvSpPr>
        <p:spPr>
          <a:xfrm>
            <a:off x="1234440" y="1554480"/>
            <a:ext cx="1645920" cy="457200"/>
          </a:xfrm>
          <a:prstGeom prst="rect">
            <a:avLst/>
          </a:prstGeom>
          <a:noFill/>
          <a:ln/>
        </p:spPr>
        <p:txBody>
          <a:bodyPr wrap="square" lIns="0" tIns="0" rIns="0" bIns="0" rtlCol="0" anchor="ctr"/>
          <a:lstStyle/>
          <a:p>
            <a:pPr indent="0" marL="0">
              <a:buNone/>
            </a:pPr>
            <a:r>
              <a:rPr lang="en-US" sz="1200" b="1" dirty="0">
                <a:solidFill>
                  <a:schemeClr val="accent3"/>
                </a:solidFill>
              </a:rPr>
              <a:t>DESIGN DECISION</a:t>
            </a:r>
            <a:endParaRPr lang="en-US" sz="1200" dirty="0"/>
          </a:p>
        </p:txBody>
      </p:sp>
      <p:sp>
        <p:nvSpPr>
          <p:cNvPr id="7" name="Card title 1"/>
          <p:cNvSpPr txBox="1"/>
          <p:nvPr/>
        </p:nvSpPr>
        <p:spPr>
          <a:xfrm>
            <a:off x="640080" y="2240280"/>
            <a:ext cx="2194560" cy="777240"/>
          </a:xfrm>
          <a:prstGeom prst="rect">
            <a:avLst/>
          </a:prstGeom>
          <a:noFill/>
          <a:ln/>
        </p:spPr>
        <p:txBody>
          <a:bodyPr wrap="square" lIns="0" tIns="0" rIns="0" bIns="0" rtlCol="0" anchor="t"/>
          <a:lstStyle/>
          <a:p>
            <a:pPr indent="0" marL="0">
              <a:buNone/>
            </a:pPr>
            <a:r>
              <a:rPr lang="en-US" sz="2000" b="1" dirty="0">
                <a:solidFill>
                  <a:schemeClr val="tx1"/>
                </a:solidFill>
              </a:rPr>
              <a:t>hirer_name stays on bookings</a:t>
            </a:r>
            <a:endParaRPr lang="en-US" sz="2000" dirty="0"/>
          </a:p>
        </p:txBody>
      </p:sp>
      <p:sp>
        <p:nvSpPr>
          <p:cNvPr id="8" name="Card text 1"/>
          <p:cNvSpPr txBox="1"/>
          <p:nvPr/>
        </p:nvSpPr>
        <p:spPr>
          <a:xfrm>
            <a:off x="640080" y="3063240"/>
            <a:ext cx="2194560" cy="1280160"/>
          </a:xfrm>
          <a:prstGeom prst="rect">
            <a:avLst/>
          </a:prstGeom>
          <a:noFill/>
          <a:ln/>
        </p:spPr>
        <p:txBody>
          <a:bodyPr wrap="square" lIns="0" tIns="0" rIns="0" bIns="0" rtlCol="0" anchor="t"/>
          <a:lstStyle/>
          <a:p>
            <a:pPr indent="0" marL="0">
              <a:buNone/>
            </a:pPr>
            <a:r>
              <a:rPr lang="en-US" sz="1400" dirty="0">
                <a:solidFill>
                  <a:schemeClr val="tx1"/>
                </a:solidFill>
              </a:rPr>
              <a:t>The name on a booking can differ from the member who booked it, for example a friend playing.</a:t>
            </a:r>
            <a:endParaRPr lang="en-US" sz="1400" dirty="0"/>
          </a:p>
        </p:txBody>
      </p:sp>
      <p:sp>
        <p:nvSpPr>
          <p:cNvPr id="9" name="Card 2"/>
          <p:cNvSpPr/>
          <p:nvPr/>
        </p:nvSpPr>
        <p:spPr>
          <a:xfrm>
            <a:off x="3291840" y="1371600"/>
            <a:ext cx="2560320" cy="274320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0" name="Card icon circle 2"/>
          <p:cNvSpPr/>
          <p:nvPr/>
        </p:nvSpPr>
        <p:spPr>
          <a:xfrm>
            <a:off x="3474720" y="1554480"/>
            <a:ext cx="457200" cy="457200"/>
          </a:xfrm>
          <a:prstGeom prst="ellipse">
            <a:avLst/>
          </a:prstGeom>
          <a:solidFill>
            <a:schemeClr val="tx1"/>
          </a:solidFill>
          <a:ln w="12700">
            <a:solidFill>
              <a:schemeClr val="tx1"/>
            </a:solidFill>
            <a:prstDash val="solid"/>
          </a:ln>
        </p:spPr>
      </p:sp>
      <p:pic>
        <p:nvPicPr>
          <p:cNvPr id="11" name="Image 1" descr="amount_charged is a snapshot icon">    </p:cNvPr>
          <p:cNvPicPr>
            <a:picLocks noChangeAspect="1"/>
          </p:cNvPicPr>
          <p:nvPr/>
        </p:nvPicPr>
        <p:blipFill>
          <a:blip r:embed="rId2"/>
          <a:stretch>
            <a:fillRect/>
          </a:stretch>
        </p:blipFill>
        <p:spPr>
          <a:xfrm>
            <a:off x="3584448" y="1664208"/>
            <a:ext cx="237744" cy="237744"/>
          </a:xfrm>
          <a:prstGeom prst="rect">
            <a:avLst/>
          </a:prstGeom>
        </p:spPr>
      </p:pic>
      <p:sp>
        <p:nvSpPr>
          <p:cNvPr id="12" name="Card tag 2"/>
          <p:cNvSpPr txBox="1"/>
          <p:nvPr/>
        </p:nvSpPr>
        <p:spPr>
          <a:xfrm>
            <a:off x="4069080" y="1554480"/>
            <a:ext cx="1645920" cy="457200"/>
          </a:xfrm>
          <a:prstGeom prst="rect">
            <a:avLst/>
          </a:prstGeom>
          <a:noFill/>
          <a:ln/>
        </p:spPr>
        <p:txBody>
          <a:bodyPr wrap="square" lIns="0" tIns="0" rIns="0" bIns="0" rtlCol="0" anchor="ctr"/>
          <a:lstStyle/>
          <a:p>
            <a:pPr indent="0" marL="0">
              <a:buNone/>
            </a:pPr>
            <a:r>
              <a:rPr lang="en-US" sz="1200" b="1" dirty="0">
                <a:solidFill>
                  <a:schemeClr val="accent3"/>
                </a:solidFill>
              </a:rPr>
              <a:t>DESIGN DECISION</a:t>
            </a:r>
            <a:endParaRPr lang="en-US" sz="1200" dirty="0"/>
          </a:p>
        </p:txBody>
      </p:sp>
      <p:sp>
        <p:nvSpPr>
          <p:cNvPr id="13" name="Card title 2"/>
          <p:cNvSpPr txBox="1"/>
          <p:nvPr/>
        </p:nvSpPr>
        <p:spPr>
          <a:xfrm>
            <a:off x="3474720" y="2240280"/>
            <a:ext cx="2194560" cy="777240"/>
          </a:xfrm>
          <a:prstGeom prst="rect">
            <a:avLst/>
          </a:prstGeom>
          <a:noFill/>
          <a:ln/>
        </p:spPr>
        <p:txBody>
          <a:bodyPr wrap="square" lIns="0" tIns="0" rIns="0" bIns="0" rtlCol="0" anchor="t"/>
          <a:lstStyle/>
          <a:p>
            <a:pPr indent="0" marL="0">
              <a:buNone/>
            </a:pPr>
            <a:r>
              <a:rPr lang="en-US" sz="2000" b="1" dirty="0">
                <a:solidFill>
                  <a:schemeClr val="tx1"/>
                </a:solidFill>
              </a:rPr>
              <a:t>amount_charged is a snapshot</a:t>
            </a:r>
            <a:endParaRPr lang="en-US" sz="2000" dirty="0"/>
          </a:p>
        </p:txBody>
      </p:sp>
      <p:sp>
        <p:nvSpPr>
          <p:cNvPr id="14" name="Card text 2"/>
          <p:cNvSpPr txBox="1"/>
          <p:nvPr/>
        </p:nvSpPr>
        <p:spPr>
          <a:xfrm>
            <a:off x="3474720" y="3063240"/>
            <a:ext cx="2194560" cy="1280160"/>
          </a:xfrm>
          <a:prstGeom prst="rect">
            <a:avLst/>
          </a:prstGeom>
          <a:noFill/>
          <a:ln/>
        </p:spPr>
        <p:txBody>
          <a:bodyPr wrap="square" lIns="0" tIns="0" rIns="0" bIns="0" rtlCol="0" anchor="t"/>
          <a:lstStyle/>
          <a:p>
            <a:pPr indent="0" marL="0">
              <a:buNone/>
            </a:pPr>
            <a:r>
              <a:rPr lang="en-US" sz="1400" dirty="0">
                <a:solidFill>
                  <a:schemeClr val="tx1"/>
                </a:solidFill>
              </a:rPr>
              <a:t>Old bookings keep what was actually charged, even if court prices change later.</a:t>
            </a:r>
            <a:endParaRPr lang="en-US" sz="1400" dirty="0"/>
          </a:p>
        </p:txBody>
      </p:sp>
      <p:sp>
        <p:nvSpPr>
          <p:cNvPr id="15" name="Card 3"/>
          <p:cNvSpPr/>
          <p:nvPr/>
        </p:nvSpPr>
        <p:spPr>
          <a:xfrm>
            <a:off x="6126480" y="1371600"/>
            <a:ext cx="2560320" cy="274320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2372A">
                <a:alpha val="12000"/>
              </a:srgbClr>
            </a:outerShdw>
          </a:effectLst>
        </p:spPr>
      </p:sp>
      <p:sp>
        <p:nvSpPr>
          <p:cNvPr id="16" name="Card icon circle 3"/>
          <p:cNvSpPr/>
          <p:nvPr/>
        </p:nvSpPr>
        <p:spPr>
          <a:xfrm>
            <a:off x="6309360" y="1554480"/>
            <a:ext cx="457200" cy="457200"/>
          </a:xfrm>
          <a:prstGeom prst="ellipse">
            <a:avLst/>
          </a:prstGeom>
          <a:solidFill>
            <a:schemeClr val="accent2"/>
          </a:solidFill>
          <a:ln w="12700">
            <a:solidFill>
              <a:schemeClr val="accent2"/>
            </a:solidFill>
            <a:prstDash val="solid"/>
          </a:ln>
        </p:spPr>
      </p:sp>
      <p:pic>
        <p:nvPicPr>
          <p:cNvPr id="17" name="Image 2" descr="Dates would not import icon">    </p:cNvPr>
          <p:cNvPicPr>
            <a:picLocks noChangeAspect="1"/>
          </p:cNvPicPr>
          <p:nvPr/>
        </p:nvPicPr>
        <p:blipFill>
          <a:blip r:embed="rId3"/>
          <a:stretch>
            <a:fillRect/>
          </a:stretch>
        </p:blipFill>
        <p:spPr>
          <a:xfrm>
            <a:off x="6419088" y="1664208"/>
            <a:ext cx="237744" cy="237744"/>
          </a:xfrm>
          <a:prstGeom prst="rect">
            <a:avLst/>
          </a:prstGeom>
        </p:spPr>
      </p:pic>
      <p:sp>
        <p:nvSpPr>
          <p:cNvPr id="18" name="Card tag 3"/>
          <p:cNvSpPr txBox="1"/>
          <p:nvPr/>
        </p:nvSpPr>
        <p:spPr>
          <a:xfrm>
            <a:off x="6903720" y="1554480"/>
            <a:ext cx="1645920" cy="457200"/>
          </a:xfrm>
          <a:prstGeom prst="rect">
            <a:avLst/>
          </a:prstGeom>
          <a:noFill/>
          <a:ln/>
        </p:spPr>
        <p:txBody>
          <a:bodyPr wrap="square" lIns="0" tIns="0" rIns="0" bIns="0" rtlCol="0" anchor="ctr"/>
          <a:lstStyle/>
          <a:p>
            <a:pPr indent="0" marL="0">
              <a:buNone/>
            </a:pPr>
            <a:r>
              <a:rPr lang="en-US" sz="1200" b="1" dirty="0">
                <a:solidFill>
                  <a:schemeClr val="accent2"/>
                </a:solidFill>
              </a:rPr>
              <a:t>CHALLENGE SOLVED</a:t>
            </a:r>
            <a:endParaRPr lang="en-US" sz="1200" dirty="0"/>
          </a:p>
        </p:txBody>
      </p:sp>
      <p:sp>
        <p:nvSpPr>
          <p:cNvPr id="19" name="Card title 3"/>
          <p:cNvSpPr txBox="1"/>
          <p:nvPr/>
        </p:nvSpPr>
        <p:spPr>
          <a:xfrm>
            <a:off x="6309360" y="2240280"/>
            <a:ext cx="2194560" cy="777240"/>
          </a:xfrm>
          <a:prstGeom prst="rect">
            <a:avLst/>
          </a:prstGeom>
          <a:noFill/>
          <a:ln/>
        </p:spPr>
        <p:txBody>
          <a:bodyPr wrap="square" lIns="0" tIns="0" rIns="0" bIns="0" rtlCol="0" anchor="t"/>
          <a:lstStyle/>
          <a:p>
            <a:pPr indent="0" marL="0">
              <a:buNone/>
            </a:pPr>
            <a:r>
              <a:rPr lang="en-US" sz="2000" b="1" dirty="0">
                <a:solidFill>
                  <a:schemeClr val="tx1"/>
                </a:solidFill>
              </a:rPr>
              <a:t>Dates would not import</a:t>
            </a:r>
            <a:endParaRPr lang="en-US" sz="2000" dirty="0"/>
          </a:p>
        </p:txBody>
      </p:sp>
      <p:sp>
        <p:nvSpPr>
          <p:cNvPr id="20" name="Card text 3"/>
          <p:cNvSpPr txBox="1"/>
          <p:nvPr/>
        </p:nvSpPr>
        <p:spPr>
          <a:xfrm>
            <a:off x="6309360" y="3063240"/>
            <a:ext cx="2194560" cy="1280160"/>
          </a:xfrm>
          <a:prstGeom prst="rect">
            <a:avLst/>
          </a:prstGeom>
          <a:noFill/>
          <a:ln/>
        </p:spPr>
        <p:txBody>
          <a:bodyPr wrap="square" lIns="0" tIns="0" rIns="0" bIns="0" rtlCol="0" anchor="t"/>
          <a:lstStyle/>
          <a:p>
            <a:pPr indent="0" marL="0">
              <a:buNone/>
            </a:pPr>
            <a:r>
              <a:rPr lang="en-US" sz="1400" dirty="0">
                <a:solidFill>
                  <a:schemeClr val="tx1"/>
                </a:solidFill>
              </a:rPr>
              <a:t>Postgres expects yyyy-mm-dd. Writing the dates in ISO format fixed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85800"/>
          </a:xfrm>
          <a:prstGeom prst="rect">
            <a:avLst/>
          </a:prstGeom>
          <a:noFill/>
          <a:ln/>
        </p:spPr>
        <p:txBody>
          <a:bodyPr wrap="square" lIns="0" tIns="0" rIns="0" bIns="0" rtlCol="0" anchor="t"/>
          <a:lstStyle/>
          <a:p>
            <a:pPr algn="l" indent="0" marL="0">
              <a:buNone/>
            </a:pPr>
            <a:r>
              <a:rPr lang="en-US" sz="3200" b="1" dirty="0">
                <a:solidFill>
                  <a:schemeClr val="bg1"/>
                </a:solidFill>
              </a:rPr>
              <a:t>Live demo</a:t>
            </a:r>
            <a:endParaRPr lang="en-US" sz="3200" dirty="0"/>
          </a:p>
        </p:txBody>
      </p:sp>
      <p:sp>
        <p:nvSpPr>
          <p:cNvPr id="3" name="Demo number circle 1"/>
          <p:cNvSpPr/>
          <p:nvPr/>
        </p:nvSpPr>
        <p:spPr>
          <a:xfrm>
            <a:off x="457200" y="1280160"/>
            <a:ext cx="384048" cy="384048"/>
          </a:xfrm>
          <a:prstGeom prst="ellipse">
            <a:avLst/>
          </a:prstGeom>
          <a:solidFill>
            <a:schemeClr val="accent1"/>
          </a:solidFill>
          <a:ln w="12700">
            <a:solidFill>
              <a:schemeClr val="accent1"/>
            </a:solidFill>
            <a:prstDash val="solid"/>
          </a:ln>
        </p:spPr>
      </p:sp>
      <p:sp>
        <p:nvSpPr>
          <p:cNvPr id="4" name="Demo number 1"/>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Demo step 1"/>
          <p:cNvSpPr txBox="1"/>
          <p:nvPr/>
        </p:nvSpPr>
        <p:spPr>
          <a:xfrm>
            <a:off x="1097280" y="128016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Home</a:t>
            </a:r>
            <a:pPr indent="0" marL="0">
              <a:buNone/>
            </a:pPr>
            <a:r>
              <a:rPr lang="en-US" sz="1800" dirty="0">
                <a:solidFill>
                  <a:schemeClr val="accent4"/>
                </a:solidFill>
              </a:rPr>
              <a:t>  every booking, newest first</a:t>
            </a:r>
            <a:endParaRPr lang="en-US" sz="1800" dirty="0"/>
          </a:p>
        </p:txBody>
      </p:sp>
      <p:sp>
        <p:nvSpPr>
          <p:cNvPr id="6" name="Demo number circle 2"/>
          <p:cNvSpPr/>
          <p:nvPr/>
        </p:nvSpPr>
        <p:spPr>
          <a:xfrm>
            <a:off x="457200" y="1828800"/>
            <a:ext cx="384048" cy="384048"/>
          </a:xfrm>
          <a:prstGeom prst="ellipse">
            <a:avLst/>
          </a:prstGeom>
          <a:solidFill>
            <a:schemeClr val="accent1"/>
          </a:solidFill>
          <a:ln w="12700">
            <a:solidFill>
              <a:schemeClr val="accent1"/>
            </a:solidFill>
            <a:prstDash val="solid"/>
          </a:ln>
        </p:spPr>
      </p:sp>
      <p:sp>
        <p:nvSpPr>
          <p:cNvPr id="7" name="Demo number 2"/>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8" name="Demo step 2"/>
          <p:cNvSpPr txBox="1"/>
          <p:nvPr/>
        </p:nvSpPr>
        <p:spPr>
          <a:xfrm>
            <a:off x="1097280" y="182880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Courts</a:t>
            </a:r>
            <a:pPr indent="0" marL="0">
              <a:buNone/>
            </a:pPr>
            <a:r>
              <a:rPr lang="en-US" sz="1800" dirty="0">
                <a:solidFill>
                  <a:schemeClr val="accent4"/>
                </a:solidFill>
              </a:rPr>
              <a:t>  pick a court</a:t>
            </a:r>
            <a:endParaRPr lang="en-US" sz="1800" dirty="0"/>
          </a:p>
        </p:txBody>
      </p:sp>
      <p:sp>
        <p:nvSpPr>
          <p:cNvPr id="9" name="Demo number circle 3"/>
          <p:cNvSpPr/>
          <p:nvPr/>
        </p:nvSpPr>
        <p:spPr>
          <a:xfrm>
            <a:off x="457200" y="2377440"/>
            <a:ext cx="384048" cy="384048"/>
          </a:xfrm>
          <a:prstGeom prst="ellipse">
            <a:avLst/>
          </a:prstGeom>
          <a:solidFill>
            <a:schemeClr val="accent1"/>
          </a:solidFill>
          <a:ln w="12700">
            <a:solidFill>
              <a:schemeClr val="accent1"/>
            </a:solidFill>
            <a:prstDash val="solid"/>
          </a:ln>
        </p:spPr>
      </p:sp>
      <p:sp>
        <p:nvSpPr>
          <p:cNvPr id="10" name="Demo number 3"/>
          <p:cNvSpPr txBox="1"/>
          <p:nvPr/>
        </p:nvSpPr>
        <p:spPr>
          <a:xfrm>
            <a:off x="457200" y="237744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1" name="Demo step 3"/>
          <p:cNvSpPr txBox="1"/>
          <p:nvPr/>
        </p:nvSpPr>
        <p:spPr>
          <a:xfrm>
            <a:off x="1097280" y="237744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Court 3</a:t>
            </a:r>
            <a:pPr indent="0" marL="0">
              <a:buNone/>
            </a:pPr>
            <a:r>
              <a:rPr lang="en-US" sz="1800" dirty="0">
                <a:solidFill>
                  <a:schemeClr val="accent4"/>
                </a:solidFill>
              </a:rPr>
              <a:t>  dynamic route, with its bookings</a:t>
            </a:r>
            <a:endParaRPr lang="en-US" sz="1800" dirty="0"/>
          </a:p>
        </p:txBody>
      </p:sp>
      <p:sp>
        <p:nvSpPr>
          <p:cNvPr id="12" name="Demo number circle 4"/>
          <p:cNvSpPr/>
          <p:nvPr/>
        </p:nvSpPr>
        <p:spPr>
          <a:xfrm>
            <a:off x="457200" y="2926080"/>
            <a:ext cx="384048" cy="384048"/>
          </a:xfrm>
          <a:prstGeom prst="ellipse">
            <a:avLst/>
          </a:prstGeom>
          <a:solidFill>
            <a:schemeClr val="accent1"/>
          </a:solidFill>
          <a:ln w="12700">
            <a:solidFill>
              <a:schemeClr val="accent1"/>
            </a:solidFill>
            <a:prstDash val="solid"/>
          </a:ln>
        </p:spPr>
      </p:sp>
      <p:sp>
        <p:nvSpPr>
          <p:cNvPr id="13" name="Demo number 4"/>
          <p:cNvSpPr txBox="1"/>
          <p:nvPr/>
        </p:nvSpPr>
        <p:spPr>
          <a:xfrm>
            <a:off x="457200" y="292608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4" name="Demo step 4"/>
          <p:cNvSpPr txBox="1"/>
          <p:nvPr/>
        </p:nvSpPr>
        <p:spPr>
          <a:xfrm>
            <a:off x="1097280" y="292608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Members</a:t>
            </a:r>
            <a:pPr indent="0" marL="0">
              <a:buNone/>
            </a:pPr>
            <a:r>
              <a:rPr lang="en-US" sz="1800" dirty="0">
                <a:solidFill>
                  <a:schemeClr val="accent4"/>
                </a:solidFill>
              </a:rPr>
              <a:t>  pick a member</a:t>
            </a:r>
            <a:endParaRPr lang="en-US" sz="1800" dirty="0"/>
          </a:p>
        </p:txBody>
      </p:sp>
      <p:sp>
        <p:nvSpPr>
          <p:cNvPr id="15" name="Demo number circle 5"/>
          <p:cNvSpPr/>
          <p:nvPr/>
        </p:nvSpPr>
        <p:spPr>
          <a:xfrm>
            <a:off x="457200" y="3474720"/>
            <a:ext cx="384048" cy="384048"/>
          </a:xfrm>
          <a:prstGeom prst="ellipse">
            <a:avLst/>
          </a:prstGeom>
          <a:solidFill>
            <a:schemeClr val="accent1"/>
          </a:solidFill>
          <a:ln w="12700">
            <a:solidFill>
              <a:schemeClr val="accent1"/>
            </a:solidFill>
            <a:prstDash val="solid"/>
          </a:ln>
        </p:spPr>
      </p:sp>
      <p:sp>
        <p:nvSpPr>
          <p:cNvPr id="16" name="Demo number 5"/>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7" name="Demo step 5"/>
          <p:cNvSpPr txBox="1"/>
          <p:nvPr/>
        </p:nvSpPr>
        <p:spPr>
          <a:xfrm>
            <a:off x="1097280" y="347472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Member M001</a:t>
            </a:r>
            <a:pPr indent="0" marL="0">
              <a:buNone/>
            </a:pPr>
            <a:r>
              <a:rPr lang="en-US" sz="1800" dirty="0">
                <a:solidFill>
                  <a:schemeClr val="accent4"/>
                </a:solidFill>
              </a:rPr>
              <a:t>  dynamic route, bookings joined in</a:t>
            </a:r>
            <a:endParaRPr lang="en-US" sz="1800" dirty="0"/>
          </a:p>
        </p:txBody>
      </p:sp>
      <p:sp>
        <p:nvSpPr>
          <p:cNvPr id="18" name="Demo number circle 6"/>
          <p:cNvSpPr/>
          <p:nvPr/>
        </p:nvSpPr>
        <p:spPr>
          <a:xfrm>
            <a:off x="457200" y="4023360"/>
            <a:ext cx="384048" cy="384048"/>
          </a:xfrm>
          <a:prstGeom prst="ellipse">
            <a:avLst/>
          </a:prstGeom>
          <a:solidFill>
            <a:schemeClr val="accent1"/>
          </a:solidFill>
          <a:ln w="12700">
            <a:solidFill>
              <a:schemeClr val="accent1"/>
            </a:solidFill>
            <a:prstDash val="solid"/>
          </a:ln>
        </p:spPr>
      </p:sp>
      <p:sp>
        <p:nvSpPr>
          <p:cNvPr id="19" name="Demo number 6"/>
          <p:cNvSpPr txBox="1"/>
          <p:nvPr/>
        </p:nvSpPr>
        <p:spPr>
          <a:xfrm>
            <a:off x="457200" y="402336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0" name="Demo step 6"/>
          <p:cNvSpPr txBox="1"/>
          <p:nvPr/>
        </p:nvSpPr>
        <p:spPr>
          <a:xfrm>
            <a:off x="1097280" y="4023360"/>
            <a:ext cx="5120640" cy="384048"/>
          </a:xfrm>
          <a:prstGeom prst="rect">
            <a:avLst/>
          </a:prstGeom>
          <a:noFill/>
          <a:ln/>
        </p:spPr>
        <p:txBody>
          <a:bodyPr wrap="square" lIns="0" tIns="0" rIns="0" bIns="0" rtlCol="0" anchor="ctr"/>
          <a:lstStyle/>
          <a:p>
            <a:pPr indent="0" marL="0">
              <a:buNone/>
            </a:pPr>
            <a:r>
              <a:rPr lang="en-US" sz="1800" b="1" dirty="0">
                <a:solidFill>
                  <a:schemeClr val="bg1"/>
                </a:solidFill>
              </a:rPr>
              <a:t>Court 999</a:t>
            </a:r>
            <a:pPr indent="0" marL="0">
              <a:buNone/>
            </a:pPr>
            <a:r>
              <a:rPr lang="en-US" sz="1800" dirty="0">
                <a:solidFill>
                  <a:schemeClr val="accent4"/>
                </a:solidFill>
              </a:rPr>
              <a:t>  a court that does not exist</a:t>
            </a:r>
            <a:endParaRPr lang="en-US" sz="1800" dirty="0"/>
          </a:p>
        </p:txBody>
      </p:sp>
      <p:sp>
        <p:nvSpPr>
          <p:cNvPr id="21" name="Tennis ball"/>
          <p:cNvSpPr/>
          <p:nvPr/>
        </p:nvSpPr>
        <p:spPr>
          <a:xfrm>
            <a:off x="6675120" y="1645920"/>
            <a:ext cx="2011680" cy="2011680"/>
          </a:xfrm>
          <a:prstGeom prst="ellipse">
            <a:avLst/>
          </a:prstGeom>
          <a:solidFill>
            <a:schemeClr val="accent1"/>
          </a:solidFill>
          <a:ln w="12700">
            <a:solidFill>
              <a:schemeClr val="accent1"/>
            </a:solidFill>
            <a:prstDash val="solid"/>
          </a:ln>
        </p:spPr>
      </p:sp>
      <p:pic>
        <p:nvPicPr>
          <p:cNvPr id="22" name="Image 0" descr="Tennis ball and racket icon">    </p:cNvPr>
          <p:cNvPicPr>
            <a:picLocks noChangeAspect="1"/>
          </p:cNvPicPr>
          <p:nvPr/>
        </p:nvPicPr>
        <p:blipFill>
          <a:blip r:embed="rId1"/>
          <a:stretch>
            <a:fillRect/>
          </a:stretch>
        </p:blipFill>
        <p:spPr>
          <a:xfrm>
            <a:off x="7269480" y="2240280"/>
            <a:ext cx="822960" cy="822960"/>
          </a:xfrm>
          <a:prstGeom prst="rect">
            <a:avLst/>
          </a:prstGeom>
        </p:spPr>
      </p:pic>
    </p:spTree>
  </p:cSld>
  <p:clrMapOvr>
    <a:masterClrMapping/>
  </p:clrMapOvr>
</p:sld>
</file>

<file path=ppt/theme/theme1.xml><?xml version="1.0" encoding="utf-8"?>
<a:theme xmlns:a="http://schemas.openxmlformats.org/drawingml/2006/main" name="KangaLife Court">
  <a:themeElements>
    <a:clrScheme name="KangaLife Court">
      <a:dk1>
        <a:srgbClr val="12372A"/>
      </a:dk1>
      <a:lt1>
        <a:srgbClr val="FFFFFF"/>
      </a:lt1>
      <a:dk2>
        <a:srgbClr val="1F5A43"/>
      </a:dk2>
      <a:lt2>
        <a:srgbClr val="EAF1E6"/>
      </a:lt2>
      <a:accent1>
        <a:srgbClr val="D7F34B"/>
      </a:accent1>
      <a:accent2>
        <a:srgbClr val="B5482A"/>
      </a:accent2>
      <a:accent3>
        <a:srgbClr val="2F7D5B"/>
      </a:accent3>
      <a:accent4>
        <a:srgbClr val="8FC4A8"/>
      </a:accent4>
      <a:accent5>
        <a:srgbClr val="E8B53D"/>
      </a:accent5>
      <a:accent6>
        <a:srgbClr val="5B6B63"/>
      </a:accent6>
      <a:hlink>
        <a:srgbClr val="1F5A43"/>
      </a:hlink>
      <a:folHlink>
        <a:srgbClr val="5B6B63"/>
      </a:folHlink>
    </a:clrScheme>
    <a:fontScheme name="KangaLife Cou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KangaLife Tennis Court Booking System</dc:title>
  <dc:subject>PptxGenJS Presentation</dc:subject>
  <dc:creator>Luca</dc:creator>
  <cp:lastModifiedBy>Luca</cp:lastModifiedBy>
  <cp:revision>1</cp:revision>
  <dcterms:created xsi:type="dcterms:W3CDTF">2026-10-05T22:15:14Z</dcterms:created>
  <dcterms:modified xsi:type="dcterms:W3CDTF">2026-10-05T22:15:14Z</dcterms:modified>
</cp:coreProperties>
</file>